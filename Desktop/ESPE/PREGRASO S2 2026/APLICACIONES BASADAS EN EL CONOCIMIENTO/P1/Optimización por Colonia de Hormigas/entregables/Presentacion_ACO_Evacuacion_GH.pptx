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charts/chart1.xml" ContentType="application/vnd.openxmlformats-officedocument.drawingml.chart+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Maycol" id="{1c47497e-8ecc-ac81-9e97-e1e381ab0e76}">
          <p14:sldIdLst>
            <p14:sldId id="256"/>
            <p14:sldId id="257"/>
            <p14:sldId id="258"/>
            <p14:sldId id="259"/>
          </p14:sldIdLst>
        </p14:section>
        <p14:section name="Erika" id="{9f35a32e-994e-7323-4894-6c139e553717}">
          <p14:sldIdLst>
            <p14:sldId id="260"/>
            <p14:sldId id="261"/>
            <p14:sldId id="262"/>
          </p14:sldIdLst>
        </p14:section>
        <p14:section name="Alejandro" id="{cba4508a-291d-423b-b391-9b445eff8a8f}">
          <p14:sldIdLst>
            <p14:sldId id="263"/>
            <p14:sldId id="264"/>
            <p14:sldId id="265"/>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600" b="0" i="0" u="none" strike="noStrike">
                <a:solidFill>
                  <a:srgbClr val="0F4C2A"/>
                </a:solidFill>
                <a:latin typeface="Calibri"/>
              </a:defRPr>
            </a:pPr>
            <a:r>
              <a:rPr sz="1600" b="0" i="0" u="none" strike="noStrike">
                <a:solidFill>
                  <a:srgbClr val="0F4C2A"/>
                </a:solidFill>
                <a:latin typeface="Calibri"/>
              </a:rPr>
              <a:t>Tasa de éxito por escenario (%)</a:t>
            </a:r>
          </a:p>
        </c:rich>
      </c:tx>
      <c:layout/>
      <c:overlay val="0"/>
    </c:title>
    <c:autoTitleDeleted val="0"/>
    <c:plotArea>
      <c:layout/>
      <c:barChart>
        <c:barDir val="col"/>
        <c:grouping val="clustered"/>
        <c:varyColors val="0"/>
        <c:ser>
          <c:idx val="0"/>
          <c:order val="0"/>
          <c:tx>
            <c:strRef>
              <c:f>Sheet1!$B$1</c:f>
              <c:strCache>
                <c:ptCount val="1"/>
                <c:pt idx="0">
                  <c:v>ACO clásico</c:v>
                </c:pt>
              </c:strCache>
            </c:strRef>
          </c:tx>
          <c:spPr>
            <a:solidFill>
              <a:srgbClr val="1F5FBF"/>
            </a:solidFill>
            <a:effectLst/>
          </c:spPr>
          <c:invertIfNegative val="0"/>
          <c:dLbls>
            <c:numFmt formatCode="0" sourceLinked="0"/>
            <c:txPr>
              <a:bodyPr/>
              <a:lstStyle/>
              <a:p>
                <a:pPr>
                  <a:defRPr b="0" i="0" strike="noStrike" sz="1100" u="none">
                    <a:solidFill>
                      <a:srgbClr val="1A1A1A"/>
                    </a:solidFill>
                    <a:latin typeface="Calibri"/>
                  </a:defRPr>
                </a:pPr>
              </a:p>
            </c:txPr>
            <c:showLegendKey val="0"/>
            <c:showVal val="1"/>
            <c:showCatName val="0"/>
            <c:showSerName val="0"/>
            <c:showPercent val="0"/>
            <c:showBubbleSize val="0"/>
            <c:showLeaderLines val="0"/>
          </c:dLbls>
          <c:cat>
            <c:multiLvlStrRef>
              <c:f>Sheet1!$A$2:$A$7</c:f>
              <c:multiLvlStrCache>
                <c:ptCount val="6"/>
                <c:lvl>
                  <c:pt idx="0">
                    <c:v>Normal</c:v>
                  </c:pt>
                  <c:pt idx="1">
                    <c:v>Gradas N bloq.</c:v>
                  </c:pt>
                  <c:pt idx="2">
                    <c:v>Gradas S bloq.</c:v>
                  </c:pt>
                  <c:pt idx="3">
                    <c:v>Salida A bloq.</c:v>
                  </c:pt>
                  <c:pt idx="4">
                    <c:v>Salida B bloq.</c:v>
                  </c:pt>
                  <c:pt idx="5">
                    <c:v>Congestión</c:v>
                  </c:pt>
                </c:lvl>
              </c:multiLvlStrCache>
            </c:multiLvlStrRef>
          </c:cat>
          <c:val>
            <c:numRef>
              <c:f>Sheet1!$B$2:$B$7</c:f>
              <c:numCache>
                <c:formatCode>General</c:formatCode>
                <c:ptCount val="6"/>
                <c:pt idx="0">
                  <c:v>21.8</c:v>
                </c:pt>
                <c:pt idx="1">
                  <c:v>11.1</c:v>
                </c:pt>
                <c:pt idx="2">
                  <c:v>15.1</c:v>
                </c:pt>
                <c:pt idx="3">
                  <c:v>21.4</c:v>
                </c:pt>
                <c:pt idx="4">
                  <c:v>13.5</c:v>
                </c:pt>
                <c:pt idx="5">
                  <c:v>20.2</c:v>
                </c:pt>
              </c:numCache>
            </c:numRef>
          </c:val>
        </c:ser>
        <c:ser>
          <c:idx val="1"/>
          <c:order val="1"/>
          <c:tx>
            <c:strRef>
              <c:f>Sheet1!$C$1</c:f>
              <c:strCache>
                <c:ptCount val="1"/>
                <c:pt idx="0">
                  <c:v>ACO guiado</c:v>
                </c:pt>
              </c:strCache>
            </c:strRef>
          </c:tx>
          <c:spPr>
            <a:solidFill>
              <a:srgbClr val="E08A00"/>
            </a:solidFill>
            <a:effectLst/>
          </c:spPr>
          <c:invertIfNegative val="0"/>
          <c:dLbls>
            <c:numFmt formatCode="0" sourceLinked="0"/>
            <c:txPr>
              <a:bodyPr/>
              <a:lstStyle/>
              <a:p>
                <a:pPr>
                  <a:defRPr b="0" i="0" strike="noStrike" sz="1100" u="none">
                    <a:solidFill>
                      <a:srgbClr val="1A1A1A"/>
                    </a:solidFill>
                    <a:latin typeface="Calibri"/>
                  </a:defRPr>
                </a:pPr>
              </a:p>
            </c:txPr>
            <c:showLegendKey val="0"/>
            <c:showVal val="1"/>
            <c:showCatName val="0"/>
            <c:showSerName val="0"/>
            <c:showPercent val="0"/>
            <c:showBubbleSize val="0"/>
            <c:showLeaderLines val="0"/>
          </c:dLbls>
          <c:cat>
            <c:multiLvlStrRef>
              <c:f>Sheet1!$A$2:$A$7</c:f>
              <c:multiLvlStrCache>
                <c:ptCount val="6"/>
                <c:lvl>
                  <c:pt idx="0">
                    <c:v>Normal</c:v>
                  </c:pt>
                  <c:pt idx="1">
                    <c:v>Gradas N bloq.</c:v>
                  </c:pt>
                  <c:pt idx="2">
                    <c:v>Gradas S bloq.</c:v>
                  </c:pt>
                  <c:pt idx="3">
                    <c:v>Salida A bloq.</c:v>
                  </c:pt>
                  <c:pt idx="4">
                    <c:v>Salida B bloq.</c:v>
                  </c:pt>
                  <c:pt idx="5">
                    <c:v>Congestión</c:v>
                  </c:pt>
                </c:lvl>
              </c:multiLvlStrCache>
            </c:multiLvlStrRef>
          </c:cat>
          <c:val>
            <c:numRef>
              <c:f>Sheet1!$C$2:$C$7</c:f>
              <c:numCache>
                <c:formatCode>General</c:formatCode>
                <c:ptCount val="6"/>
                <c:pt idx="0">
                  <c:v>100</c:v>
                </c:pt>
                <c:pt idx="1">
                  <c:v>100</c:v>
                </c:pt>
                <c:pt idx="2">
                  <c:v>100</c:v>
                </c:pt>
                <c:pt idx="3">
                  <c:v>100</c:v>
                </c:pt>
                <c:pt idx="4">
                  <c:v>100</c:v>
                </c:pt>
                <c:pt idx="5">
                  <c:v>100</c:v>
                </c:pt>
              </c:numCache>
            </c:numRef>
          </c:val>
        </c:ser>
        <c:dLbls>
          <c:numFmt formatCode="0" sourceLinked="0"/>
          <c:txPr>
            <a:bodyPr/>
            <a:lstStyle/>
            <a:p>
              <a:pPr>
                <a:defRPr b="0" i="0" strike="noStrike" sz="1100" u="none">
                  <a:solidFill>
                    <a:srgbClr val="1A1A1A"/>
                  </a:solidFill>
                  <a:latin typeface="Calibri"/>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595959"/>
                </a:solidFill>
                <a:latin typeface="Calibri"/>
              </a:defRPr>
            </a:pPr>
            <a:endParaRPr lang="en-US"/>
          </a:p>
        </c:txPr>
        <c:crossAx val="2094734552"/>
        <c:crosses val="autoZero"/>
        <c:auto val="1"/>
        <c:lblAlgn val="ctr"/>
        <c:noMultiLvlLbl val="1"/>
      </c:catAx>
      <c:valAx>
        <c:axId val="2094734552"/>
        <c:scaling>
          <c:orientation val="minMax"/>
          <c:max val="115"/>
          <c:min val="0"/>
        </c:scaling>
        <c:delete val="0"/>
        <c:axPos val="l"/>
        <c:majorGridlines>
          <c:spPr>
            <a:ln w="6350" cap="flat">
              <a:solidFill>
                <a:srgbClr val="E0E0E0"/>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595959"/>
                </a:solidFill>
                <a:latin typeface="Calibri"/>
              </a:defRPr>
            </a:pPr>
            <a:endParaRPr lang="en-US"/>
          </a:p>
        </c:txPr>
        <c:crossAx val="2094734554"/>
        <c:crosses val="autoZero"/>
        <c:crossBetween val="between"/>
      </c:valAx>
      <c:spPr>
        <a:noFill/>
        <a:ln>
          <a:noFill/>
        </a:ln>
        <a:effectLst/>
      </c:spPr>
    </c:plotArea>
    <c:legend>
      <c:legendPos val="b"/>
      <c:overlay val="0"/>
      <c:txPr>
        <a:bodyPr/>
        <a:lstStyle/>
        <a:p>
          <a:pPr>
            <a:defRPr sz="1200">
              <a:latin typeface="Calibri"/>
              <a:cs typeface="Calibri"/>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[MAYCOL, 0:00 a 0:10]
Buenas tardes. Somos Maycol Celi, Erika Guayanay y Alejandro Obando, y les presentamos cómo guiamos la evacuación de los bloques G y H de la ESPE con un agente que usa hormigas artificiales. Yo les cuento el problema y el modelo; Erika, los algoritmos y la auditoría; y Alejandro, los resultados y las conclusiones.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[MAYCOL, 0:10 a 0:45]
El problema es concreto: si hay un sismo, ¿por qué ruta sale cada persona de G y H? El complejo tiene 42 orígenes, que son las 40 aulas y 2 oficinas de planta baja, pero solo dos secciones de gradas y dos salidas. Eso deja poco margen si una vía se bloquea.
Nuestro objetivo fue construir un agente de búsqueda con hormigas artificiales, compararlo con Dijkstra, que da el óptimo exacto, y medir lo que pide la guía oficial de simulacros: cuándo llega la primera y cuándo llega la última persona al punto de encuentro.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[MAYCOL, 0:45 a 1:20]
Armamos un grafo de 75 nodos y 79 aristas sobre el plano real, calibrado con las dos salidas: el error de escala fue de 2,2 por ciento. Aquí se ven las rutas desde tres orígenes.
Separamos lo medido de lo supuesto. La población y la velocidad son supuestos, y como no conocemos los puntos de encuentro reales de la ESPE, usamos tres hipotéticos.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[MAYCOL, 1:20 a 2:00]
El agente percibe qué aristas están bloqueadas, decide la ruta con ACO y actúa entregando instrucciones y tiempo estimado. Es basado en metas y utilidad: llegar a algún punto de encuentro con el menor costo.
Lo delimitamos: planifica a una persona por origen, Dijkstra no interviene en su decisión y no simula a las 1020 personas interactuando. Ahora Erika les cuenta los algoritmos.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[ERIKA, 2:00 a 2:35]
Gracias, Maycol. Usamos tres métodos. Dijkstra es la referencia: da siempre el óptimo. ACO imita a las hormigas: cada una arma un camino eligiendo vecinos según la feromona y la visibilidad, y los caminos cortos se refuerzan.
Probamos dos variantes. El ACO clásico es el original, con beta igual a 2, un valor que fijamos antes de medir. El ACO guiado agrega tres correcciones: poda de callejones, que quita las aulas del grafo de búsqueda, retroceso, y una heurística tipo A estrella.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[ERIKA, 2:35 a 3:10]
Antes de medir, auditamos si ACO hacía trampa. Primero: el código de ACO no llama a Dijkstra; la búsqueda del texto dio cero coincidencias. Segundo: probamos tres variantes. Con poda y retroceso, con o sin heurística, ACO llega siempre al óptimo. Solo sin poda ni retroceso aparece una brecha, de 7,5 y 5,8 por ciento en los pisos más altos.
Entonces la poda es la corrección que más pesa, y por eso corrimos las dos variantes en todos los experimentos.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[ERIKA, 3:10 a 3:50]
Corrimos 15 mil 120 corridas: seis escenarios, 42 orígenes, 30 repeticiones y dos variantes. El ACO guiado igualó a Dijkstra siempre: 100 por ciento de éxito y brecha cero. Pero tarda unas 264 veces más: entre 13 y 30 milisegundos frente a menos de 0,1.
El ACO clásico rindió mal: entre 11 y 22 por ciento de éxito. Y verificamos la cordura en más de 20 mil corridas: ninguna mejoró a Dijkstra, como debe ser. Ahora Alejandro sigue con los parámetros y los bloqueos.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[ALEJANDRO, 3:50 a 4:25]
Gracias, Erika. Variamos los parámetros del ACO clásico. El que manda es beta: con beta cero el éxito es 99 por ciento, con beta dos baja a 34. Alfa y rho no cambian nada, o sea que la feromona casi no interviene, como se ve en la animación. Con un depósito de feromona más grande sí interviene, pero empeora la calidad.
También probamos si reutilizar la feromona del escenario normal, el warm start, ayuda a adaptarse a un bloqueo: no ayuda de forma sistemática, y en Salida B bloqueada incluso empeora.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[ALEJANDRO, 4:25 a 5:05]
Para la evacuación completa simulamos 1020 personas. Con las rutas óptimas, la primera persona llega a los 194 segundos y la última a los 272. Si se bloquean las gradas norte o la Salida B, todos pasan a la Salida A y los tiempos suben unos 39 segundos, a 233 y 311. Los otros tres escenarios no cambian nada, porque en el modelo nadie usa esas vías.
Ojo: que todos salgan por la Salida B es efecto de nuestros puntos de encuentro hipotéticos, no una recomendación para el campus.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[ALEJANDRO, 5:05 a 5:50]
Concluimos tres cosas. Primera: el ACO guiado encuentra siempre el óptimo, pero el mérito es de la poda y el retroceso, no de las feromonas. Segunda: en este grafo de 75 nodos, Dijkstra es la mejor opción práctica; ACO sería más útil en grafos mucho mayores o más cambiantes. Tercera: el sistema depende de pocas vías, así que perder una alarga la evacuación, y las cifras mejorarán cuando levantemos en campo los puntos de encuentro reales. Gracias.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NTENIDO">
    <p:bg>
      <p:bgPr>
        <a:solidFill>
          <a:schemeClr val="bg1"/>
        </a:solidFill>
      </p:bgPr>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412480" y="4828032"/>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latin typeface="Calibri"/>
                <a:ea typeface="Calibri"/>
                <a:cs typeface="Calibri"/>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OSCURA">
    <p:bg>
      <p:bgPr>
        <a:solidFill>
          <a:schemeClr val="tx2"/>
        </a:solidFill>
      </p:bgPr>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412480" y="4828032"/>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latin typeface="Calibri"/>
                <a:ea typeface="Calibri"/>
                <a:cs typeface="Calibri"/>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3.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2.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gif"/><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gif"/><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Marco logo"/>
          <p:cNvSpPr/>
          <p:nvPr/>
        </p:nvSpPr>
        <p:spPr>
          <a:xfrm>
            <a:off x="457200" y="365760"/>
            <a:ext cx="2651760" cy="1005840"/>
          </a:xfrm>
          <a:prstGeom prst="roundRect">
            <a:avLst>
              <a:gd name="adj" fmla="val 9091"/>
            </a:avLst>
          </a:prstGeom>
          <a:solidFill>
            <a:schemeClr val="bg1"/>
          </a:solidFill>
          <a:ln w="12700">
            <a:solidFill>
              <a:schemeClr val="bg1"/>
            </a:solidFill>
            <a:prstDash val="solid"/>
          </a:ln>
        </p:spPr>
      </p:sp>
      <p:pic>
        <p:nvPicPr>
          <p:cNvPr id="3" name="Logo ESPE" descr="Logo ESPE">    </p:cNvPr>
          <p:cNvPicPr>
            <a:picLocks noChangeAspect="1"/>
          </p:cNvPicPr>
          <p:nvPr/>
        </p:nvPicPr>
        <p:blipFill>
          <a:blip r:embed="rId1"/>
          <a:stretch>
            <a:fillRect/>
          </a:stretch>
        </p:blipFill>
        <p:spPr>
          <a:xfrm>
            <a:off x="621792" y="420624"/>
            <a:ext cx="2286000" cy="850392"/>
          </a:xfrm>
          <a:prstGeom prst="rect">
            <a:avLst/>
          </a:prstGeom>
        </p:spPr>
      </p:pic>
      <p:sp>
        <p:nvSpPr>
          <p:cNvPr id="4" name="Título"/>
          <p:cNvSpPr txBox="1"/>
          <p:nvPr/>
        </p:nvSpPr>
        <p:spPr>
          <a:xfrm>
            <a:off x="457200" y="1508760"/>
            <a:ext cx="8229600" cy="1371600"/>
          </a:xfrm>
          <a:prstGeom prst="rect">
            <a:avLst/>
          </a:prstGeom>
          <a:noFill/>
          <a:ln/>
        </p:spPr>
        <p:txBody>
          <a:bodyPr wrap="square" lIns="0" tIns="0" rIns="0" bIns="0" rtlCol="0" anchor="ctr"/>
          <a:lstStyle/>
          <a:p>
            <a:pPr algn="l" indent="0" marL="0">
              <a:buNone/>
            </a:pPr>
            <a:r>
              <a:rPr lang="en-US" sz="3400" b="1" dirty="0">
                <a:solidFill>
                  <a:schemeClr val="bg1"/>
                </a:solidFill>
                <a:latin typeface="Cambria" pitchFamily="34" charset="0"/>
                <a:ea typeface="Cambria" pitchFamily="34" charset="-122"/>
                <a:cs typeface="Cambria" pitchFamily="34" charset="-120"/>
              </a:rPr>
              <a:t>Guiado de evacuación de los bloques G y H con Optimización por Colonia de Hormigas</a:t>
            </a:r>
            <a:endParaRPr lang="en-US" sz="3400" dirty="0"/>
          </a:p>
        </p:txBody>
      </p:sp>
      <p:sp>
        <p:nvSpPr>
          <p:cNvPr id="5" name="Materia"/>
          <p:cNvSpPr txBox="1"/>
          <p:nvPr/>
        </p:nvSpPr>
        <p:spPr>
          <a:xfrm>
            <a:off x="457200" y="3017520"/>
            <a:ext cx="8229600" cy="365760"/>
          </a:xfrm>
          <a:prstGeom prst="rect">
            <a:avLst/>
          </a:prstGeom>
          <a:noFill/>
          <a:ln/>
        </p:spPr>
        <p:txBody>
          <a:bodyPr wrap="square" lIns="0" tIns="0" rIns="0" bIns="0" rtlCol="0" anchor="ctr"/>
          <a:lstStyle/>
          <a:p>
            <a:pPr indent="0" marL="0">
              <a:buNone/>
            </a:pPr>
            <a:r>
              <a:rPr lang="en-US" sz="1800" dirty="0">
                <a:solidFill>
                  <a:schemeClr val="bg2"/>
                </a:solidFill>
                <a:latin typeface="Calibri" pitchFamily="34" charset="0"/>
                <a:ea typeface="Calibri" pitchFamily="34" charset="-122"/>
                <a:cs typeface="Calibri" pitchFamily="34" charset="-120"/>
              </a:rPr>
              <a:t>Aplicaciones basadas en el conocimiento  |  NRC 36859</a:t>
            </a:r>
            <a:endParaRPr lang="en-US" sz="1800" dirty="0"/>
          </a:p>
        </p:txBody>
      </p:sp>
      <p:sp>
        <p:nvSpPr>
          <p:cNvPr id="6" name="Integrantes"/>
          <p:cNvSpPr txBox="1"/>
          <p:nvPr/>
        </p:nvSpPr>
        <p:spPr>
          <a:xfrm>
            <a:off x="457200" y="3611880"/>
            <a:ext cx="8229600" cy="411480"/>
          </a:xfrm>
          <a:prstGeom prst="rect">
            <a:avLst/>
          </a:prstGeom>
          <a:noFill/>
          <a:ln/>
        </p:spPr>
        <p:txBody>
          <a:bodyPr wrap="square" lIns="0" tIns="0" rIns="0" bIns="0" rtlCol="0" anchor="ctr"/>
          <a:lstStyle/>
          <a:p>
            <a:pPr indent="0" marL="0">
              <a:buNone/>
            </a:pPr>
            <a:r>
              <a:rPr lang="en-US" sz="2000" b="1" dirty="0">
                <a:solidFill>
                  <a:schemeClr val="bg1"/>
                </a:solidFill>
                <a:latin typeface="Calibri" pitchFamily="34" charset="0"/>
                <a:ea typeface="Calibri" pitchFamily="34" charset="-122"/>
                <a:cs typeface="Calibri" pitchFamily="34" charset="-120"/>
              </a:rPr>
              <a:t>Maycol Celi  ·  Erika Guayanay  ·  Alejandro Obando</a:t>
            </a:r>
            <a:endParaRPr lang="en-US" sz="2000" dirty="0"/>
          </a:p>
        </p:txBody>
      </p:sp>
      <p:sp>
        <p:nvSpPr>
          <p:cNvPr id="7" name="Pie portada"/>
          <p:cNvSpPr txBox="1"/>
          <p:nvPr/>
        </p:nvSpPr>
        <p:spPr>
          <a:xfrm>
            <a:off x="457200" y="4434840"/>
            <a:ext cx="8229600" cy="320040"/>
          </a:xfrm>
          <a:prstGeom prst="rect">
            <a:avLst/>
          </a:prstGeom>
          <a:noFill/>
          <a:ln/>
        </p:spPr>
        <p:txBody>
          <a:bodyPr wrap="square" lIns="0" tIns="0" rIns="0" bIns="0" rtlCol="0" anchor="ctr"/>
          <a:lstStyle/>
          <a:p>
            <a:pPr indent="0" marL="0">
              <a:buNone/>
            </a:pPr>
            <a:r>
              <a:rPr lang="en-US" sz="1400" dirty="0">
                <a:solidFill>
                  <a:schemeClr val="bg2"/>
                </a:solidFill>
                <a:latin typeface="Calibri" pitchFamily="34" charset="0"/>
                <a:ea typeface="Calibri" pitchFamily="34" charset="-122"/>
                <a:cs typeface="Calibri" pitchFamily="34" charset="-120"/>
              </a:rPr>
              <a:t>Universidad de las Fuerzas Armadas ESPE  |  26 de octubre de 2026</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ítulo"/>
          <p:cNvSpPr txBox="1"/>
          <p:nvPr/>
        </p:nvSpPr>
        <p:spPr>
          <a:xfrm>
            <a:off x="457200" y="256032"/>
            <a:ext cx="8229600" cy="731520"/>
          </a:xfrm>
          <a:prstGeom prst="rect">
            <a:avLst/>
          </a:prstGeom>
          <a:noFill/>
          <a:ln/>
        </p:spPr>
        <p:txBody>
          <a:bodyPr wrap="square" lIns="0" tIns="0" rIns="0" bIns="0" rtlCol="0" anchor="ctr"/>
          <a:lstStyle/>
          <a:p>
            <a:pPr algn="l" indent="0" marL="0">
              <a:buNone/>
            </a:pPr>
            <a:r>
              <a:rPr lang="en-US" sz="3000" b="1" dirty="0">
                <a:solidFill>
                  <a:schemeClr val="tx2"/>
                </a:solidFill>
                <a:latin typeface="Cambria" pitchFamily="34" charset="0"/>
                <a:ea typeface="Cambria" pitchFamily="34" charset="-122"/>
                <a:cs typeface="Cambria" pitchFamily="34" charset="-120"/>
              </a:rPr>
              <a:t>El problema: ¿por dónde sale cada persona?</a:t>
            </a:r>
            <a:endParaRPr lang="en-US" sz="3000" dirty="0"/>
          </a:p>
        </p:txBody>
      </p:sp>
      <p:sp>
        <p:nvSpPr>
          <p:cNvPr id="3" name="Tarjeta 1"/>
          <p:cNvSpPr/>
          <p:nvPr/>
        </p:nvSpPr>
        <p:spPr>
          <a:xfrm>
            <a:off x="457200" y="1234440"/>
            <a:ext cx="2606040" cy="1783080"/>
          </a:xfrm>
          <a:prstGeom prst="roundRect">
            <a:avLst>
              <a:gd name="adj" fmla="val 4103"/>
            </a:avLst>
          </a:prstGeom>
          <a:solidFill>
            <a:schemeClr val="bg2"/>
          </a:solidFill>
          <a:ln w="12700">
            <a:solidFill>
              <a:schemeClr val="bg2"/>
            </a:solidFill>
            <a:prstDash val="solid"/>
          </a:ln>
        </p:spPr>
      </p:sp>
      <p:sp>
        <p:nvSpPr>
          <p:cNvPr id="4" name="Dato 1 cifra"/>
          <p:cNvSpPr txBox="1"/>
          <p:nvPr/>
        </p:nvSpPr>
        <p:spPr>
          <a:xfrm>
            <a:off x="685800" y="1325880"/>
            <a:ext cx="2194560" cy="685800"/>
          </a:xfrm>
          <a:prstGeom prst="rect">
            <a:avLst/>
          </a:prstGeom>
          <a:noFill/>
          <a:ln/>
        </p:spPr>
        <p:txBody>
          <a:bodyPr wrap="square" lIns="0" tIns="0" rIns="0" bIns="0" rtlCol="0" anchor="b"/>
          <a:lstStyle/>
          <a:p>
            <a:pPr algn="l" indent="0" marL="0">
              <a:buNone/>
            </a:pPr>
            <a:r>
              <a:rPr lang="en-US" sz="3800" b="1" dirty="0">
                <a:solidFill>
                  <a:schemeClr val="accent1"/>
                </a:solidFill>
                <a:latin typeface="Cambria" pitchFamily="34" charset="0"/>
                <a:ea typeface="Cambria" pitchFamily="34" charset="-122"/>
                <a:cs typeface="Cambria" pitchFamily="34" charset="-120"/>
              </a:rPr>
              <a:t>42</a:t>
            </a:r>
            <a:endParaRPr lang="en-US" sz="3800" dirty="0"/>
          </a:p>
        </p:txBody>
      </p:sp>
      <p:sp>
        <p:nvSpPr>
          <p:cNvPr id="5" name="Dato 1 etiqueta"/>
          <p:cNvSpPr txBox="1"/>
          <p:nvPr/>
        </p:nvSpPr>
        <p:spPr>
          <a:xfrm>
            <a:off x="685800" y="2039112"/>
            <a:ext cx="2194560" cy="457200"/>
          </a:xfrm>
          <a:prstGeom prst="rect">
            <a:avLst/>
          </a:prstGeom>
          <a:noFill/>
          <a:ln/>
        </p:spPr>
        <p:txBody>
          <a:bodyPr wrap="square" lIns="0" tIns="0" rIns="0" bIns="0" rtlCol="0" anchor="t"/>
          <a:lstStyle/>
          <a:p>
            <a:pPr algn="l" indent="0" marL="0">
              <a:buNone/>
            </a:pPr>
            <a:r>
              <a:rPr lang="en-US" sz="1400" dirty="0">
                <a:solidFill>
                  <a:schemeClr val="tx1"/>
                </a:solidFill>
                <a:latin typeface="Calibri" pitchFamily="34" charset="0"/>
                <a:ea typeface="Calibri" pitchFamily="34" charset="-122"/>
                <a:cs typeface="Calibri" pitchFamily="34" charset="-120"/>
              </a:rPr>
              <a:t>orígenes: 40 aulas y 2 oficinas de planta baja</a:t>
            </a:r>
            <a:endParaRPr lang="en-US" sz="1400" dirty="0"/>
          </a:p>
        </p:txBody>
      </p:sp>
      <p:sp>
        <p:nvSpPr>
          <p:cNvPr id="6" name="Tarjeta 2"/>
          <p:cNvSpPr/>
          <p:nvPr/>
        </p:nvSpPr>
        <p:spPr>
          <a:xfrm>
            <a:off x="3291840" y="1234440"/>
            <a:ext cx="2606040" cy="1783080"/>
          </a:xfrm>
          <a:prstGeom prst="roundRect">
            <a:avLst>
              <a:gd name="adj" fmla="val 4103"/>
            </a:avLst>
          </a:prstGeom>
          <a:solidFill>
            <a:schemeClr val="bg2"/>
          </a:solidFill>
          <a:ln w="12700">
            <a:solidFill>
              <a:schemeClr val="bg2"/>
            </a:solidFill>
            <a:prstDash val="solid"/>
          </a:ln>
        </p:spPr>
      </p:sp>
      <p:sp>
        <p:nvSpPr>
          <p:cNvPr id="7" name="Dato 2 cifra"/>
          <p:cNvSpPr txBox="1"/>
          <p:nvPr/>
        </p:nvSpPr>
        <p:spPr>
          <a:xfrm>
            <a:off x="3520440" y="1325880"/>
            <a:ext cx="2194560" cy="685800"/>
          </a:xfrm>
          <a:prstGeom prst="rect">
            <a:avLst/>
          </a:prstGeom>
          <a:noFill/>
          <a:ln/>
        </p:spPr>
        <p:txBody>
          <a:bodyPr wrap="square" lIns="0" tIns="0" rIns="0" bIns="0" rtlCol="0" anchor="b"/>
          <a:lstStyle/>
          <a:p>
            <a:pPr algn="l" indent="0" marL="0">
              <a:buNone/>
            </a:pPr>
            <a:r>
              <a:rPr lang="en-US" sz="3800" b="1" dirty="0">
                <a:solidFill>
                  <a:schemeClr val="accent2"/>
                </a:solidFill>
                <a:latin typeface="Cambria" pitchFamily="34" charset="0"/>
                <a:ea typeface="Cambria" pitchFamily="34" charset="-122"/>
                <a:cs typeface="Cambria" pitchFamily="34" charset="-120"/>
              </a:rPr>
              <a:t>2</a:t>
            </a:r>
            <a:endParaRPr lang="en-US" sz="3800" dirty="0"/>
          </a:p>
        </p:txBody>
      </p:sp>
      <p:sp>
        <p:nvSpPr>
          <p:cNvPr id="8" name="Dato 2 etiqueta"/>
          <p:cNvSpPr txBox="1"/>
          <p:nvPr/>
        </p:nvSpPr>
        <p:spPr>
          <a:xfrm>
            <a:off x="3520440" y="2039112"/>
            <a:ext cx="2194560" cy="457200"/>
          </a:xfrm>
          <a:prstGeom prst="rect">
            <a:avLst/>
          </a:prstGeom>
          <a:noFill/>
          <a:ln/>
        </p:spPr>
        <p:txBody>
          <a:bodyPr wrap="square" lIns="0" tIns="0" rIns="0" bIns="0" rtlCol="0" anchor="t"/>
          <a:lstStyle/>
          <a:p>
            <a:pPr algn="l" indent="0" marL="0">
              <a:buNone/>
            </a:pPr>
            <a:r>
              <a:rPr lang="en-US" sz="1400" dirty="0">
                <a:solidFill>
                  <a:schemeClr val="tx1"/>
                </a:solidFill>
                <a:latin typeface="Calibri" pitchFamily="34" charset="0"/>
                <a:ea typeface="Calibri" pitchFamily="34" charset="-122"/>
                <a:cs typeface="Calibri" pitchFamily="34" charset="-120"/>
              </a:rPr>
              <a:t>secciones de gradas, norte y sur, para todo el complejo</a:t>
            </a:r>
            <a:endParaRPr lang="en-US" sz="1400" dirty="0"/>
          </a:p>
        </p:txBody>
      </p:sp>
      <p:sp>
        <p:nvSpPr>
          <p:cNvPr id="9" name="Tarjeta 3"/>
          <p:cNvSpPr/>
          <p:nvPr/>
        </p:nvSpPr>
        <p:spPr>
          <a:xfrm>
            <a:off x="6126480" y="1234440"/>
            <a:ext cx="2606040" cy="1783080"/>
          </a:xfrm>
          <a:prstGeom prst="roundRect">
            <a:avLst>
              <a:gd name="adj" fmla="val 4103"/>
            </a:avLst>
          </a:prstGeom>
          <a:solidFill>
            <a:schemeClr val="bg2"/>
          </a:solidFill>
          <a:ln w="12700">
            <a:solidFill>
              <a:schemeClr val="bg2"/>
            </a:solidFill>
            <a:prstDash val="solid"/>
          </a:ln>
        </p:spPr>
      </p:sp>
      <p:sp>
        <p:nvSpPr>
          <p:cNvPr id="10" name="Dato 3 cifra"/>
          <p:cNvSpPr txBox="1"/>
          <p:nvPr/>
        </p:nvSpPr>
        <p:spPr>
          <a:xfrm>
            <a:off x="6355080" y="1325880"/>
            <a:ext cx="2194560" cy="685800"/>
          </a:xfrm>
          <a:prstGeom prst="rect">
            <a:avLst/>
          </a:prstGeom>
          <a:noFill/>
          <a:ln/>
        </p:spPr>
        <p:txBody>
          <a:bodyPr wrap="square" lIns="0" tIns="0" rIns="0" bIns="0" rtlCol="0" anchor="b"/>
          <a:lstStyle/>
          <a:p>
            <a:pPr algn="l" indent="0" marL="0">
              <a:buNone/>
            </a:pPr>
            <a:r>
              <a:rPr lang="en-US" sz="3800" b="1" dirty="0">
                <a:solidFill>
                  <a:schemeClr val="accent3"/>
                </a:solidFill>
                <a:latin typeface="Cambria" pitchFamily="34" charset="0"/>
                <a:ea typeface="Cambria" pitchFamily="34" charset="-122"/>
                <a:cs typeface="Cambria" pitchFamily="34" charset="-120"/>
              </a:rPr>
              <a:t>2</a:t>
            </a:r>
            <a:endParaRPr lang="en-US" sz="3800" dirty="0"/>
          </a:p>
        </p:txBody>
      </p:sp>
      <p:sp>
        <p:nvSpPr>
          <p:cNvPr id="11" name="Dato 3 etiqueta"/>
          <p:cNvSpPr txBox="1"/>
          <p:nvPr/>
        </p:nvSpPr>
        <p:spPr>
          <a:xfrm>
            <a:off x="6355080" y="2039112"/>
            <a:ext cx="2194560" cy="457200"/>
          </a:xfrm>
          <a:prstGeom prst="rect">
            <a:avLst/>
          </a:prstGeom>
          <a:noFill/>
          <a:ln/>
        </p:spPr>
        <p:txBody>
          <a:bodyPr wrap="square" lIns="0" tIns="0" rIns="0" bIns="0" rtlCol="0" anchor="t"/>
          <a:lstStyle/>
          <a:p>
            <a:pPr algn="l" indent="0" marL="0">
              <a:buNone/>
            </a:pPr>
            <a:r>
              <a:rPr lang="en-US" sz="1400" dirty="0">
                <a:solidFill>
                  <a:schemeClr val="tx1"/>
                </a:solidFill>
                <a:latin typeface="Calibri" pitchFamily="34" charset="0"/>
                <a:ea typeface="Calibri" pitchFamily="34" charset="-122"/>
                <a:cs typeface="Calibri" pitchFamily="34" charset="-120"/>
              </a:rPr>
              <a:t>salidas: A al sur y B al norte</a:t>
            </a:r>
            <a:endParaRPr lang="en-US" sz="1400" dirty="0"/>
          </a:p>
        </p:txBody>
      </p:sp>
      <p:sp>
        <p:nvSpPr>
          <p:cNvPr id="12" name="Objetivo"/>
          <p:cNvSpPr txBox="1"/>
          <p:nvPr/>
        </p:nvSpPr>
        <p:spPr>
          <a:xfrm>
            <a:off x="457200" y="3337560"/>
            <a:ext cx="8229600" cy="1188720"/>
          </a:xfrm>
          <a:prstGeom prst="rect">
            <a:avLst/>
          </a:prstGeom>
          <a:noFill/>
          <a:ln/>
        </p:spPr>
        <p:txBody>
          <a:bodyPr wrap="square" lIns="0" tIns="0" rIns="0" bIns="0" rtlCol="0" anchor="t"/>
          <a:lstStyle/>
          <a:p>
            <a:pPr indent="0" marL="0">
              <a:spcAft>
                <a:spcPts val="800"/>
              </a:spcAft>
              <a:buNone/>
            </a:pPr>
            <a:r>
              <a:rPr lang="en-US" sz="1800" b="1" dirty="0">
                <a:solidFill>
                  <a:schemeClr val="accent1"/>
                </a:solidFill>
                <a:latin typeface="Calibri" pitchFamily="34" charset="0"/>
                <a:ea typeface="Calibri" pitchFamily="34" charset="-122"/>
                <a:cs typeface="Calibri" pitchFamily="34" charset="-120"/>
              </a:rPr>
              <a:t>Objetivo: </a:t>
            </a:r>
            <a:pPr indent="0" marL="0">
              <a:spcAft>
                <a:spcPts val="800"/>
              </a:spcAft>
              <a:buNone/>
            </a:pPr>
            <a:r>
              <a:rPr lang="en-US" sz="1800" dirty="0">
                <a:solidFill>
                  <a:schemeClr val="tx1"/>
                </a:solidFill>
                <a:latin typeface="Calibri" pitchFamily="34" charset="0"/>
                <a:ea typeface="Calibri" pitchFamily="34" charset="-122"/>
                <a:cs typeface="Calibri" pitchFamily="34" charset="-120"/>
              </a:rPr>
              <a:t>un agente de búsqueda con ACO, comparado con Dijkstra (óptimo exacto).</a:t>
            </a:r>
            <a:endParaRPr lang="en-US" sz="1800" dirty="0"/>
          </a:p>
          <a:p>
            <a:pPr indent="0" marL="0">
              <a:spcAft>
                <a:spcPts val="800"/>
              </a:spcAft>
              <a:buNone/>
            </a:pPr>
            <a:r>
              <a:rPr lang="en-US" sz="1800" b="1" dirty="0">
                <a:solidFill>
                  <a:schemeClr val="accent1"/>
                </a:solidFill>
                <a:latin typeface="Calibri" pitchFamily="34" charset="0"/>
                <a:ea typeface="Calibri" pitchFamily="34" charset="-122"/>
                <a:cs typeface="Calibri" pitchFamily="34" charset="-120"/>
              </a:rPr>
              <a:t>Se mide como la guía oficial de simulacros: </a:t>
            </a:r>
            <a:pPr indent="0" marL="0">
              <a:spcAft>
                <a:spcPts val="800"/>
              </a:spcAft>
              <a:buNone/>
            </a:pPr>
            <a:r>
              <a:rPr lang="en-US" sz="1800" dirty="0">
                <a:solidFill>
                  <a:schemeClr val="tx1"/>
                </a:solidFill>
                <a:latin typeface="Calibri" pitchFamily="34" charset="0"/>
                <a:ea typeface="Calibri" pitchFamily="34" charset="-122"/>
                <a:cs typeface="Calibri" pitchFamily="34" charset="-120"/>
              </a:rPr>
              <a:t>llegada de la primera y de la última persona al punto de encuentro.</a:t>
            </a:r>
            <a:endParaRPr lang="en-US" sz="1800" dirty="0"/>
          </a:p>
        </p:txBody>
      </p:sp>
      <p:sp>
        <p:nvSpPr>
          <p:cNvPr id="13" name="Expositor"/>
          <p:cNvSpPr txBox="1"/>
          <p:nvPr/>
        </p:nvSpPr>
        <p:spPr>
          <a:xfrm>
            <a:off x="6309360" y="4828032"/>
            <a:ext cx="2011680" cy="228600"/>
          </a:xfrm>
          <a:prstGeom prst="rect">
            <a:avLst/>
          </a:prstGeom>
          <a:noFill/>
          <a:ln/>
        </p:spPr>
        <p:txBody>
          <a:bodyPr wrap="square" lIns="0" tIns="0" rIns="0" bIns="0" rtlCol="0" anchor="ctr"/>
          <a:lstStyle/>
          <a:p>
            <a:pPr algn="r" indent="0" marL="0">
              <a:buNone/>
            </a:pPr>
            <a:r>
              <a:rPr lang="en-US" sz="1000" dirty="0">
                <a:solidFill>
                  <a:schemeClr val="accent6"/>
                </a:solidFill>
                <a:latin typeface="Calibri" pitchFamily="34" charset="0"/>
                <a:ea typeface="Calibri" pitchFamily="34" charset="-122"/>
                <a:cs typeface="Calibri" pitchFamily="34" charset="-120"/>
              </a:rPr>
              <a:t>Maycol</a:t>
            </a:r>
            <a:endParaRPr lang="en-US" sz="1000" dirty="0"/>
          </a:p>
        </p:txBody>
      </p:sp>
      <p:sp>
        <p:nvSpPr>
          <p:cNvPr id="25" name="Slide Number Placeholder 0"/>
          <p:cNvSpPr>
            <a:spLocks noGrp="1"/>
          </p:cNvSpPr>
          <p:nvPr>
            <p:ph type="sldNum" sz="quarter" idx="4294967295"/>
          </p:nvPr>
        </p:nvSpPr>
        <p:spPr>
          <a:xfrm>
            <a:off x="8412480" y="4828032"/>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latin typeface="Calibri"/>
                <a:ea typeface="Calibri"/>
                <a:cs typeface="Calibri"/>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ítulo"/>
          <p:cNvSpPr txBox="1"/>
          <p:nvPr/>
        </p:nvSpPr>
        <p:spPr>
          <a:xfrm>
            <a:off x="457200" y="256032"/>
            <a:ext cx="8229600" cy="731520"/>
          </a:xfrm>
          <a:prstGeom prst="rect">
            <a:avLst/>
          </a:prstGeom>
          <a:noFill/>
          <a:ln/>
        </p:spPr>
        <p:txBody>
          <a:bodyPr wrap="square" lIns="0" tIns="0" rIns="0" bIns="0" rtlCol="0" anchor="ctr"/>
          <a:lstStyle/>
          <a:p>
            <a:pPr algn="l" indent="0" marL="0">
              <a:buNone/>
            </a:pPr>
            <a:r>
              <a:rPr lang="en-US" sz="3000" b="1" dirty="0">
                <a:solidFill>
                  <a:schemeClr val="tx2"/>
                </a:solidFill>
                <a:latin typeface="Cambria" pitchFamily="34" charset="0"/>
                <a:ea typeface="Cambria" pitchFamily="34" charset="-122"/>
                <a:cs typeface="Cambria" pitchFamily="34" charset="-120"/>
              </a:rPr>
              <a:t>El edificio como grafo sobre el plano real</a:t>
            </a:r>
            <a:endParaRPr lang="en-US" sz="3000" dirty="0"/>
          </a:p>
        </p:txBody>
      </p:sp>
      <p:pic>
        <p:nvPicPr>
          <p:cNvPr id="3" name="Plano con rutas" descr="Plano calibrado con las rutas de Dijkstra y de ACO desde tres orígenes">    </p:cNvPr>
          <p:cNvPicPr>
            <a:picLocks noChangeAspect="1"/>
          </p:cNvPicPr>
          <p:nvPr/>
        </p:nvPicPr>
        <p:blipFill>
          <a:blip r:embed="rId1"/>
          <a:stretch>
            <a:fillRect/>
          </a:stretch>
        </p:blipFill>
        <p:spPr>
          <a:xfrm>
            <a:off x="457200" y="1256437"/>
            <a:ext cx="8229600" cy="2059126"/>
          </a:xfrm>
          <a:prstGeom prst="rect">
            <a:avLst/>
          </a:prstGeom>
        </p:spPr>
      </p:pic>
      <p:sp>
        <p:nvSpPr>
          <p:cNvPr id="4" name="Dato 1"/>
          <p:cNvSpPr/>
          <p:nvPr/>
        </p:nvSpPr>
        <p:spPr>
          <a:xfrm>
            <a:off x="457200" y="3703320"/>
            <a:ext cx="2606040" cy="960120"/>
          </a:xfrm>
          <a:prstGeom prst="roundRect">
            <a:avLst>
              <a:gd name="adj" fmla="val 7619"/>
            </a:avLst>
          </a:prstGeom>
          <a:solidFill>
            <a:schemeClr val="bg2"/>
          </a:solidFill>
          <a:ln w="12700">
            <a:solidFill>
              <a:schemeClr val="bg2"/>
            </a:solidFill>
            <a:prstDash val="solid"/>
          </a:ln>
        </p:spPr>
      </p:sp>
      <p:sp>
        <p:nvSpPr>
          <p:cNvPr id="5" name="Texto dato 1"/>
          <p:cNvSpPr txBox="1"/>
          <p:nvPr/>
        </p:nvSpPr>
        <p:spPr>
          <a:xfrm>
            <a:off x="594360" y="3749040"/>
            <a:ext cx="2331720" cy="868680"/>
          </a:xfrm>
          <a:prstGeom prst="rect">
            <a:avLst/>
          </a:prstGeom>
          <a:noFill/>
          <a:ln/>
        </p:spPr>
        <p:txBody>
          <a:bodyPr wrap="square" lIns="0" tIns="0" rIns="0" bIns="0" rtlCol="0" anchor="ctr"/>
          <a:lstStyle/>
          <a:p>
            <a:pPr indent="0" marL="0">
              <a:buNone/>
            </a:pPr>
            <a:r>
              <a:rPr lang="en-US" sz="1800" b="1" dirty="0">
                <a:solidFill>
                  <a:schemeClr val="accent1"/>
                </a:solidFill>
                <a:latin typeface="Calibri" pitchFamily="34" charset="0"/>
                <a:ea typeface="Calibri" pitchFamily="34" charset="-122"/>
                <a:cs typeface="Calibri" pitchFamily="34" charset="-120"/>
              </a:rPr>
              <a:t>75 nodos, 79 aristas</a:t>
            </a:r>
            <a:endParaRPr lang="en-US" sz="1800" dirty="0"/>
          </a:p>
          <a:p>
            <a:pPr indent="0" marL="0">
              <a:buNone/>
            </a:pPr>
            <a:r>
              <a:rPr lang="en-US" sz="1400" dirty="0">
                <a:solidFill>
                  <a:schemeClr val="tx1"/>
                </a:solidFill>
                <a:latin typeface="Calibri" pitchFamily="34" charset="0"/>
                <a:ea typeface="Calibri" pitchFamily="34" charset="-122"/>
                <a:cs typeface="Calibri" pitchFamily="34" charset="-120"/>
              </a:rPr>
              <a:t>planta baja y 4 pisos, 2 gradas, 2 salidas</a:t>
            </a:r>
            <a:endParaRPr lang="en-US" sz="1800" dirty="0"/>
          </a:p>
        </p:txBody>
      </p:sp>
      <p:sp>
        <p:nvSpPr>
          <p:cNvPr id="6" name="Dato 2"/>
          <p:cNvSpPr/>
          <p:nvPr/>
        </p:nvSpPr>
        <p:spPr>
          <a:xfrm>
            <a:off x="3291840" y="3703320"/>
            <a:ext cx="2606040" cy="960120"/>
          </a:xfrm>
          <a:prstGeom prst="roundRect">
            <a:avLst>
              <a:gd name="adj" fmla="val 7619"/>
            </a:avLst>
          </a:prstGeom>
          <a:solidFill>
            <a:schemeClr val="bg2"/>
          </a:solidFill>
          <a:ln w="12700">
            <a:solidFill>
              <a:schemeClr val="bg2"/>
            </a:solidFill>
            <a:prstDash val="solid"/>
          </a:ln>
        </p:spPr>
      </p:sp>
      <p:sp>
        <p:nvSpPr>
          <p:cNvPr id="7" name="Texto dato 2"/>
          <p:cNvSpPr txBox="1"/>
          <p:nvPr/>
        </p:nvSpPr>
        <p:spPr>
          <a:xfrm>
            <a:off x="3429000" y="3749040"/>
            <a:ext cx="2331720" cy="868680"/>
          </a:xfrm>
          <a:prstGeom prst="rect">
            <a:avLst/>
          </a:prstGeom>
          <a:noFill/>
          <a:ln/>
        </p:spPr>
        <p:txBody>
          <a:bodyPr wrap="square" lIns="0" tIns="0" rIns="0" bIns="0" rtlCol="0" anchor="ctr"/>
          <a:lstStyle/>
          <a:p>
            <a:pPr indent="0" marL="0">
              <a:buNone/>
            </a:pPr>
            <a:r>
              <a:rPr lang="en-US" sz="1800" b="1" dirty="0">
                <a:solidFill>
                  <a:schemeClr val="accent1"/>
                </a:solidFill>
                <a:latin typeface="Calibri" pitchFamily="34" charset="0"/>
                <a:ea typeface="Calibri" pitchFamily="34" charset="-122"/>
                <a:cs typeface="Calibri" pitchFamily="34" charset="-120"/>
              </a:rPr>
              <a:t>2.19 % de error</a:t>
            </a:r>
            <a:endParaRPr lang="en-US" sz="1800" dirty="0"/>
          </a:p>
          <a:p>
            <a:pPr indent="0" marL="0">
              <a:buNone/>
            </a:pPr>
            <a:r>
              <a:rPr lang="en-US" sz="1400" dirty="0">
                <a:solidFill>
                  <a:schemeClr val="tx1"/>
                </a:solidFill>
                <a:latin typeface="Calibri" pitchFamily="34" charset="0"/>
                <a:ea typeface="Calibri" pitchFamily="34" charset="-122"/>
                <a:cs typeface="Calibri" pitchFamily="34" charset="-120"/>
              </a:rPr>
              <a:t>en la escala del plano calibrado</a:t>
            </a:r>
            <a:endParaRPr lang="en-US" sz="1800" dirty="0"/>
          </a:p>
        </p:txBody>
      </p:sp>
      <p:sp>
        <p:nvSpPr>
          <p:cNvPr id="8" name="Dato 3"/>
          <p:cNvSpPr/>
          <p:nvPr/>
        </p:nvSpPr>
        <p:spPr>
          <a:xfrm>
            <a:off x="6126480" y="3703320"/>
            <a:ext cx="2606040" cy="960120"/>
          </a:xfrm>
          <a:prstGeom prst="roundRect">
            <a:avLst>
              <a:gd name="adj" fmla="val 7619"/>
            </a:avLst>
          </a:prstGeom>
          <a:solidFill>
            <a:schemeClr val="bg2"/>
          </a:solidFill>
          <a:ln w="12700">
            <a:solidFill>
              <a:schemeClr val="bg2"/>
            </a:solidFill>
            <a:prstDash val="solid"/>
          </a:ln>
        </p:spPr>
      </p:sp>
      <p:sp>
        <p:nvSpPr>
          <p:cNvPr id="9" name="Texto dato 3"/>
          <p:cNvSpPr txBox="1"/>
          <p:nvPr/>
        </p:nvSpPr>
        <p:spPr>
          <a:xfrm>
            <a:off x="6263640" y="3749040"/>
            <a:ext cx="2331720" cy="868680"/>
          </a:xfrm>
          <a:prstGeom prst="rect">
            <a:avLst/>
          </a:prstGeom>
          <a:noFill/>
          <a:ln/>
        </p:spPr>
        <p:txBody>
          <a:bodyPr wrap="square" lIns="0" tIns="0" rIns="0" bIns="0" rtlCol="0" anchor="ctr"/>
          <a:lstStyle/>
          <a:p>
            <a:pPr indent="0" marL="0">
              <a:buNone/>
            </a:pPr>
            <a:r>
              <a:rPr lang="en-US" sz="1800" b="1" dirty="0">
                <a:solidFill>
                  <a:schemeClr val="accent1"/>
                </a:solidFill>
                <a:latin typeface="Calibri" pitchFamily="34" charset="0"/>
                <a:ea typeface="Calibri" pitchFamily="34" charset="-122"/>
                <a:cs typeface="Calibri" pitchFamily="34" charset="-120"/>
              </a:rPr>
              <a:t>3 puntos hipotéticos</a:t>
            </a:r>
            <a:endParaRPr lang="en-US" sz="1800" dirty="0"/>
          </a:p>
          <a:p>
            <a:pPr indent="0" marL="0">
              <a:buNone/>
            </a:pPr>
            <a:r>
              <a:rPr lang="en-US" sz="1400" dirty="0">
                <a:solidFill>
                  <a:schemeClr val="tx1"/>
                </a:solidFill>
                <a:latin typeface="Calibri" pitchFamily="34" charset="0"/>
                <a:ea typeface="Calibri" pitchFamily="34" charset="-122"/>
                <a:cs typeface="Calibri" pitchFamily="34" charset="-120"/>
              </a:rPr>
              <a:t>los puntos oficiales no se conocen</a:t>
            </a:r>
            <a:endParaRPr lang="en-US" sz="1800" dirty="0"/>
          </a:p>
        </p:txBody>
      </p:sp>
      <p:sp>
        <p:nvSpPr>
          <p:cNvPr id="10" name="Expositor"/>
          <p:cNvSpPr txBox="1"/>
          <p:nvPr/>
        </p:nvSpPr>
        <p:spPr>
          <a:xfrm>
            <a:off x="6309360" y="4828032"/>
            <a:ext cx="2011680" cy="228600"/>
          </a:xfrm>
          <a:prstGeom prst="rect">
            <a:avLst/>
          </a:prstGeom>
          <a:noFill/>
          <a:ln/>
        </p:spPr>
        <p:txBody>
          <a:bodyPr wrap="square" lIns="0" tIns="0" rIns="0" bIns="0" rtlCol="0" anchor="ctr"/>
          <a:lstStyle/>
          <a:p>
            <a:pPr algn="r" indent="0" marL="0">
              <a:buNone/>
            </a:pPr>
            <a:r>
              <a:rPr lang="en-US" sz="1000" dirty="0">
                <a:solidFill>
                  <a:schemeClr val="accent6"/>
                </a:solidFill>
                <a:latin typeface="Calibri" pitchFamily="34" charset="0"/>
                <a:ea typeface="Calibri" pitchFamily="34" charset="-122"/>
                <a:cs typeface="Calibri" pitchFamily="34" charset="-120"/>
              </a:rPr>
              <a:t>Maycol</a:t>
            </a:r>
            <a:endParaRPr lang="en-US" sz="1000" dirty="0"/>
          </a:p>
        </p:txBody>
      </p:sp>
      <p:sp>
        <p:nvSpPr>
          <p:cNvPr id="25" name="Slide Number Placeholder 0"/>
          <p:cNvSpPr>
            <a:spLocks noGrp="1"/>
          </p:cNvSpPr>
          <p:nvPr>
            <p:ph type="sldNum" sz="quarter" idx="4294967295"/>
          </p:nvPr>
        </p:nvSpPr>
        <p:spPr>
          <a:xfrm>
            <a:off x="8412480" y="4828032"/>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latin typeface="Calibri"/>
                <a:ea typeface="Calibri"/>
                <a:cs typeface="Calibri"/>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ítulo"/>
          <p:cNvSpPr txBox="1"/>
          <p:nvPr/>
        </p:nvSpPr>
        <p:spPr>
          <a:xfrm>
            <a:off x="457200" y="256032"/>
            <a:ext cx="8229600" cy="731520"/>
          </a:xfrm>
          <a:prstGeom prst="rect">
            <a:avLst/>
          </a:prstGeom>
          <a:noFill/>
          <a:ln/>
        </p:spPr>
        <p:txBody>
          <a:bodyPr wrap="square" lIns="0" tIns="0" rIns="0" bIns="0" rtlCol="0" anchor="ctr"/>
          <a:lstStyle/>
          <a:p>
            <a:pPr algn="l" indent="0" marL="0">
              <a:buNone/>
            </a:pPr>
            <a:r>
              <a:rPr lang="en-US" sz="3000" b="1" dirty="0">
                <a:solidFill>
                  <a:schemeClr val="tx2"/>
                </a:solidFill>
                <a:latin typeface="Cambria" pitchFamily="34" charset="0"/>
                <a:ea typeface="Cambria" pitchFamily="34" charset="-122"/>
                <a:cs typeface="Cambria" pitchFamily="34" charset="-120"/>
              </a:rPr>
              <a:t>El agente: percibe, decide y actúa</a:t>
            </a:r>
            <a:endParaRPr lang="en-US" sz="3000" dirty="0"/>
          </a:p>
        </p:txBody>
      </p:sp>
      <p:sp>
        <p:nvSpPr>
          <p:cNvPr id="3" name="Tarjeta Percibe"/>
          <p:cNvSpPr/>
          <p:nvPr/>
        </p:nvSpPr>
        <p:spPr>
          <a:xfrm>
            <a:off x="457200" y="1188720"/>
            <a:ext cx="2514600" cy="1508760"/>
          </a:xfrm>
          <a:prstGeom prst="roundRect">
            <a:avLst>
              <a:gd name="adj" fmla="val 4848"/>
            </a:avLst>
          </a:prstGeom>
          <a:solidFill>
            <a:schemeClr val="bg2"/>
          </a:solidFill>
          <a:ln w="12700">
            <a:solidFill>
              <a:schemeClr val="bg2"/>
            </a:solidFill>
            <a:prstDash val="solid"/>
          </a:ln>
        </p:spPr>
      </p:sp>
      <p:sp>
        <p:nvSpPr>
          <p:cNvPr id="4" name="Texto Percibe"/>
          <p:cNvSpPr txBox="1"/>
          <p:nvPr/>
        </p:nvSpPr>
        <p:spPr>
          <a:xfrm>
            <a:off x="640080" y="1280160"/>
            <a:ext cx="2148840" cy="1325880"/>
          </a:xfrm>
          <a:prstGeom prst="rect">
            <a:avLst/>
          </a:prstGeom>
          <a:noFill/>
          <a:ln/>
        </p:spPr>
        <p:txBody>
          <a:bodyPr wrap="square" lIns="0" tIns="0" rIns="0" bIns="0" rtlCol="0" anchor="ctr"/>
          <a:lstStyle/>
          <a:p>
            <a:pPr indent="0" marL="0">
              <a:buNone/>
            </a:pPr>
            <a:r>
              <a:rPr lang="en-US" sz="2000" b="1" dirty="0">
                <a:solidFill>
                  <a:schemeClr val="accent1"/>
                </a:solidFill>
                <a:latin typeface="Calibri" pitchFamily="34" charset="0"/>
                <a:ea typeface="Calibri" pitchFamily="34" charset="-122"/>
                <a:cs typeface="Calibri" pitchFamily="34" charset="-120"/>
              </a:rPr>
              <a:t>Percibe</a:t>
            </a:r>
            <a:endParaRPr lang="en-US" sz="2000" dirty="0"/>
          </a:p>
          <a:p>
            <a:pPr indent="0" marL="0">
              <a:buNone/>
            </a:pPr>
            <a:r>
              <a:rPr lang="en-US" sz="1500" dirty="0">
                <a:solidFill>
                  <a:schemeClr val="tx1"/>
                </a:solidFill>
                <a:latin typeface="Calibri" pitchFamily="34" charset="0"/>
                <a:ea typeface="Calibri" pitchFamily="34" charset="-122"/>
                <a:cs typeface="Calibri" pitchFamily="34" charset="-120"/>
              </a:rPr>
              <a:t>Aristas bloqueadas y congestión</a:t>
            </a:r>
            <a:endParaRPr lang="en-US" sz="2000" dirty="0"/>
          </a:p>
        </p:txBody>
      </p:sp>
      <p:sp>
        <p:nvSpPr>
          <p:cNvPr id="5" name="Tarjeta Decide"/>
          <p:cNvSpPr/>
          <p:nvPr/>
        </p:nvSpPr>
        <p:spPr>
          <a:xfrm>
            <a:off x="3154680" y="1188720"/>
            <a:ext cx="2514600" cy="1508760"/>
          </a:xfrm>
          <a:prstGeom prst="roundRect">
            <a:avLst>
              <a:gd name="adj" fmla="val 4848"/>
            </a:avLst>
          </a:prstGeom>
          <a:solidFill>
            <a:schemeClr val="bg2"/>
          </a:solidFill>
          <a:ln w="12700">
            <a:solidFill>
              <a:schemeClr val="bg2"/>
            </a:solidFill>
            <a:prstDash val="solid"/>
          </a:ln>
        </p:spPr>
      </p:sp>
      <p:sp>
        <p:nvSpPr>
          <p:cNvPr id="6" name="Texto Decide"/>
          <p:cNvSpPr txBox="1"/>
          <p:nvPr/>
        </p:nvSpPr>
        <p:spPr>
          <a:xfrm>
            <a:off x="3337560" y="1280160"/>
            <a:ext cx="2148840" cy="1325880"/>
          </a:xfrm>
          <a:prstGeom prst="rect">
            <a:avLst/>
          </a:prstGeom>
          <a:noFill/>
          <a:ln/>
        </p:spPr>
        <p:txBody>
          <a:bodyPr wrap="square" lIns="0" tIns="0" rIns="0" bIns="0" rtlCol="0" anchor="ctr"/>
          <a:lstStyle/>
          <a:p>
            <a:pPr indent="0" marL="0">
              <a:buNone/>
            </a:pPr>
            <a:r>
              <a:rPr lang="en-US" sz="2000" b="1" dirty="0">
                <a:solidFill>
                  <a:schemeClr val="accent1"/>
                </a:solidFill>
                <a:latin typeface="Calibri" pitchFamily="34" charset="0"/>
                <a:ea typeface="Calibri" pitchFamily="34" charset="-122"/>
                <a:cs typeface="Calibri" pitchFamily="34" charset="-120"/>
              </a:rPr>
              <a:t>Decide</a:t>
            </a:r>
            <a:endParaRPr lang="en-US" sz="2000" dirty="0"/>
          </a:p>
          <a:p>
            <a:pPr indent="0" marL="0">
              <a:buNone/>
            </a:pPr>
            <a:r>
              <a:rPr lang="en-US" sz="1500" dirty="0">
                <a:solidFill>
                  <a:schemeClr val="tx1"/>
                </a:solidFill>
                <a:latin typeface="Calibri" pitchFamily="34" charset="0"/>
                <a:ea typeface="Calibri" pitchFamily="34" charset="-122"/>
                <a:cs typeface="Calibri" pitchFamily="34" charset="-120"/>
              </a:rPr>
              <a:t>La ruta a algún punto de encuentro, con ACO</a:t>
            </a:r>
            <a:endParaRPr lang="en-US" sz="2000" dirty="0"/>
          </a:p>
        </p:txBody>
      </p:sp>
      <p:sp>
        <p:nvSpPr>
          <p:cNvPr id="7" name="Tarjeta Actúa"/>
          <p:cNvSpPr/>
          <p:nvPr/>
        </p:nvSpPr>
        <p:spPr>
          <a:xfrm>
            <a:off x="457200" y="2880360"/>
            <a:ext cx="2514600" cy="1508760"/>
          </a:xfrm>
          <a:prstGeom prst="roundRect">
            <a:avLst>
              <a:gd name="adj" fmla="val 4848"/>
            </a:avLst>
          </a:prstGeom>
          <a:solidFill>
            <a:schemeClr val="bg2"/>
          </a:solidFill>
          <a:ln w="12700">
            <a:solidFill>
              <a:schemeClr val="bg2"/>
            </a:solidFill>
            <a:prstDash val="solid"/>
          </a:ln>
        </p:spPr>
      </p:sp>
      <p:sp>
        <p:nvSpPr>
          <p:cNvPr id="8" name="Texto Actúa"/>
          <p:cNvSpPr txBox="1"/>
          <p:nvPr/>
        </p:nvSpPr>
        <p:spPr>
          <a:xfrm>
            <a:off x="640080" y="2971800"/>
            <a:ext cx="2148840" cy="1325880"/>
          </a:xfrm>
          <a:prstGeom prst="rect">
            <a:avLst/>
          </a:prstGeom>
          <a:noFill/>
          <a:ln/>
        </p:spPr>
        <p:txBody>
          <a:bodyPr wrap="square" lIns="0" tIns="0" rIns="0" bIns="0" rtlCol="0" anchor="ctr"/>
          <a:lstStyle/>
          <a:p>
            <a:pPr indent="0" marL="0">
              <a:buNone/>
            </a:pPr>
            <a:r>
              <a:rPr lang="en-US" sz="2000" b="1" dirty="0">
                <a:solidFill>
                  <a:schemeClr val="accent1"/>
                </a:solidFill>
                <a:latin typeface="Calibri" pitchFamily="34" charset="0"/>
                <a:ea typeface="Calibri" pitchFamily="34" charset="-122"/>
                <a:cs typeface="Calibri" pitchFamily="34" charset="-120"/>
              </a:rPr>
              <a:t>Actúa</a:t>
            </a:r>
            <a:endParaRPr lang="en-US" sz="2000" dirty="0"/>
          </a:p>
          <a:p>
            <a:pPr indent="0" marL="0">
              <a:buNone/>
            </a:pPr>
            <a:r>
              <a:rPr lang="en-US" sz="1500" dirty="0">
                <a:solidFill>
                  <a:schemeClr val="tx1"/>
                </a:solidFill>
                <a:latin typeface="Calibri" pitchFamily="34" charset="0"/>
                <a:ea typeface="Calibri" pitchFamily="34" charset="-122"/>
                <a:cs typeface="Calibri" pitchFamily="34" charset="-120"/>
              </a:rPr>
              <a:t>Ruta, instrucciones y tiempo estimado</a:t>
            </a:r>
            <a:endParaRPr lang="en-US" sz="2000" dirty="0"/>
          </a:p>
        </p:txBody>
      </p:sp>
      <p:sp>
        <p:nvSpPr>
          <p:cNvPr id="9" name="Tarjeta Meta y utilidad"/>
          <p:cNvSpPr/>
          <p:nvPr/>
        </p:nvSpPr>
        <p:spPr>
          <a:xfrm>
            <a:off x="3154680" y="2880360"/>
            <a:ext cx="2514600" cy="1508760"/>
          </a:xfrm>
          <a:prstGeom prst="roundRect">
            <a:avLst>
              <a:gd name="adj" fmla="val 4848"/>
            </a:avLst>
          </a:prstGeom>
          <a:solidFill>
            <a:schemeClr val="bg2"/>
          </a:solidFill>
          <a:ln w="12700">
            <a:solidFill>
              <a:schemeClr val="bg2"/>
            </a:solidFill>
            <a:prstDash val="solid"/>
          </a:ln>
        </p:spPr>
      </p:sp>
      <p:sp>
        <p:nvSpPr>
          <p:cNvPr id="10" name="Texto Meta y utilidad"/>
          <p:cNvSpPr txBox="1"/>
          <p:nvPr/>
        </p:nvSpPr>
        <p:spPr>
          <a:xfrm>
            <a:off x="3337560" y="2971800"/>
            <a:ext cx="2148840" cy="1325880"/>
          </a:xfrm>
          <a:prstGeom prst="rect">
            <a:avLst/>
          </a:prstGeom>
          <a:noFill/>
          <a:ln/>
        </p:spPr>
        <p:txBody>
          <a:bodyPr wrap="square" lIns="0" tIns="0" rIns="0" bIns="0" rtlCol="0" anchor="ctr"/>
          <a:lstStyle/>
          <a:p>
            <a:pPr indent="0" marL="0">
              <a:buNone/>
            </a:pPr>
            <a:r>
              <a:rPr lang="en-US" sz="2000" b="1" dirty="0">
                <a:solidFill>
                  <a:schemeClr val="accent1"/>
                </a:solidFill>
                <a:latin typeface="Calibri" pitchFamily="34" charset="0"/>
                <a:ea typeface="Calibri" pitchFamily="34" charset="-122"/>
                <a:cs typeface="Calibri" pitchFamily="34" charset="-120"/>
              </a:rPr>
              <a:t>Meta y utilidad</a:t>
            </a:r>
            <a:endParaRPr lang="en-US" sz="2000" dirty="0"/>
          </a:p>
          <a:p>
            <a:pPr indent="0" marL="0">
              <a:buNone/>
            </a:pPr>
            <a:r>
              <a:rPr lang="en-US" sz="1500" dirty="0">
                <a:solidFill>
                  <a:schemeClr val="tx1"/>
                </a:solidFill>
                <a:latin typeface="Calibri" pitchFamily="34" charset="0"/>
                <a:ea typeface="Calibri" pitchFamily="34" charset="-122"/>
                <a:cs typeface="Calibri" pitchFamily="34" charset="-120"/>
              </a:rPr>
              <a:t>Llegar al punto de encuentro con el menor costo</a:t>
            </a:r>
            <a:endParaRPr lang="en-US" sz="2000" dirty="0"/>
          </a:p>
        </p:txBody>
      </p:sp>
      <p:sp>
        <p:nvSpPr>
          <p:cNvPr id="11" name="Limites"/>
          <p:cNvSpPr/>
          <p:nvPr/>
        </p:nvSpPr>
        <p:spPr>
          <a:xfrm>
            <a:off x="5989320" y="1188720"/>
            <a:ext cx="2697480" cy="3200400"/>
          </a:xfrm>
          <a:prstGeom prst="roundRect">
            <a:avLst>
              <a:gd name="adj" fmla="val 2712"/>
            </a:avLst>
          </a:prstGeom>
          <a:solidFill>
            <a:schemeClr val="tx2"/>
          </a:solidFill>
          <a:ln w="12700">
            <a:solidFill>
              <a:schemeClr val="tx2"/>
            </a:solidFill>
            <a:prstDash val="solid"/>
          </a:ln>
        </p:spPr>
      </p:sp>
      <p:sp>
        <p:nvSpPr>
          <p:cNvPr id="12" name="Texto limites"/>
          <p:cNvSpPr txBox="1"/>
          <p:nvPr/>
        </p:nvSpPr>
        <p:spPr>
          <a:xfrm>
            <a:off x="6172200" y="1280160"/>
            <a:ext cx="2377440" cy="3017520"/>
          </a:xfrm>
          <a:prstGeom prst="rect">
            <a:avLst/>
          </a:prstGeom>
          <a:noFill/>
          <a:ln/>
        </p:spPr>
        <p:txBody>
          <a:bodyPr wrap="square" lIns="0" tIns="0" rIns="0" bIns="0" rtlCol="0" anchor="t"/>
          <a:lstStyle/>
          <a:p>
            <a:pPr indent="0" marL="0">
              <a:spcAft>
                <a:spcPts val="800"/>
              </a:spcAft>
              <a:buNone/>
            </a:pPr>
            <a:r>
              <a:rPr lang="en-US" sz="2000" b="1" dirty="0">
                <a:solidFill>
                  <a:schemeClr val="bg1"/>
                </a:solidFill>
                <a:latin typeface="Calibri" pitchFamily="34" charset="0"/>
                <a:ea typeface="Calibri" pitchFamily="34" charset="-122"/>
                <a:cs typeface="Calibri" pitchFamily="34" charset="-120"/>
              </a:rPr>
              <a:t>Lo que no es</a:t>
            </a:r>
            <a:endParaRPr lang="en-US" sz="1500" dirty="0"/>
          </a:p>
          <a:p>
            <a:pPr marL="342900" indent="-342900">
              <a:spcAft>
                <a:spcPts val="800"/>
              </a:spcAft>
              <a:buSzPct val="100000"/>
              <a:buChar char="•"/>
            </a:pPr>
            <a:r>
              <a:rPr lang="en-US" sz="1500" dirty="0">
                <a:solidFill>
                  <a:schemeClr val="bg1"/>
                </a:solidFill>
                <a:latin typeface="Calibri" pitchFamily="34" charset="0"/>
                <a:ea typeface="Calibri" pitchFamily="34" charset="-122"/>
                <a:cs typeface="Calibri" pitchFamily="34" charset="-120"/>
              </a:rPr>
              <a:t>Una persona por origen, no 1020 agentes que interactúan</a:t>
            </a:r>
            <a:endParaRPr lang="en-US" sz="1500" dirty="0"/>
          </a:p>
          <a:p>
            <a:pPr marL="342900" indent="-342900">
              <a:spcAft>
                <a:spcPts val="800"/>
              </a:spcAft>
              <a:buSzPct val="100000"/>
              <a:buChar char="•"/>
            </a:pPr>
            <a:r>
              <a:rPr lang="en-US" sz="1500" dirty="0">
                <a:solidFill>
                  <a:schemeClr val="bg1"/>
                </a:solidFill>
                <a:latin typeface="Calibri" pitchFamily="34" charset="0"/>
                <a:ea typeface="Calibri" pitchFamily="34" charset="-122"/>
                <a:cs typeface="Calibri" pitchFamily="34" charset="-120"/>
              </a:rPr>
              <a:t>Dijkstra no decide: solo es referencia</a:t>
            </a:r>
            <a:endParaRPr lang="en-US" sz="1500" dirty="0"/>
          </a:p>
          <a:p>
            <a:pPr marL="342900" indent="-342900">
              <a:spcAft>
                <a:spcPts val="800"/>
              </a:spcAft>
              <a:buSzPct val="100000"/>
              <a:buChar char="•"/>
            </a:pPr>
            <a:r>
              <a:rPr lang="en-US" sz="1500" dirty="0">
                <a:solidFill>
                  <a:schemeClr val="bg1"/>
                </a:solidFill>
                <a:latin typeface="Calibri" pitchFamily="34" charset="0"/>
                <a:ea typeface="Calibri" pitchFamily="34" charset="-122"/>
                <a:cs typeface="Calibri" pitchFamily="34" charset="-120"/>
              </a:rPr>
              <a:t>Sin colas ni capacidad de gradas</a:t>
            </a:r>
            <a:endParaRPr lang="en-US" sz="1500" dirty="0"/>
          </a:p>
        </p:txBody>
      </p:sp>
      <p:sp>
        <p:nvSpPr>
          <p:cNvPr id="13" name="Expositor"/>
          <p:cNvSpPr txBox="1"/>
          <p:nvPr/>
        </p:nvSpPr>
        <p:spPr>
          <a:xfrm>
            <a:off x="6309360" y="4828032"/>
            <a:ext cx="2011680" cy="228600"/>
          </a:xfrm>
          <a:prstGeom prst="rect">
            <a:avLst/>
          </a:prstGeom>
          <a:noFill/>
          <a:ln/>
        </p:spPr>
        <p:txBody>
          <a:bodyPr wrap="square" lIns="0" tIns="0" rIns="0" bIns="0" rtlCol="0" anchor="ctr"/>
          <a:lstStyle/>
          <a:p>
            <a:pPr algn="r" indent="0" marL="0">
              <a:buNone/>
            </a:pPr>
            <a:r>
              <a:rPr lang="en-US" sz="1000" dirty="0">
                <a:solidFill>
                  <a:schemeClr val="accent6"/>
                </a:solidFill>
                <a:latin typeface="Calibri" pitchFamily="34" charset="0"/>
                <a:ea typeface="Calibri" pitchFamily="34" charset="-122"/>
                <a:cs typeface="Calibri" pitchFamily="34" charset="-120"/>
              </a:rPr>
              <a:t>Maycol</a:t>
            </a:r>
            <a:endParaRPr lang="en-US" sz="1000" dirty="0"/>
          </a:p>
        </p:txBody>
      </p:sp>
      <p:sp>
        <p:nvSpPr>
          <p:cNvPr id="25" name="Slide Number Placeholder 0"/>
          <p:cNvSpPr>
            <a:spLocks noGrp="1"/>
          </p:cNvSpPr>
          <p:nvPr>
            <p:ph type="sldNum" sz="quarter" idx="4294967295"/>
          </p:nvPr>
        </p:nvSpPr>
        <p:spPr>
          <a:xfrm>
            <a:off x="8412480" y="4828032"/>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latin typeface="Calibri"/>
                <a:ea typeface="Calibri"/>
                <a:cs typeface="Calibri"/>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ítulo"/>
          <p:cNvSpPr txBox="1"/>
          <p:nvPr/>
        </p:nvSpPr>
        <p:spPr>
          <a:xfrm>
            <a:off x="457200" y="256032"/>
            <a:ext cx="8229600" cy="731520"/>
          </a:xfrm>
          <a:prstGeom prst="rect">
            <a:avLst/>
          </a:prstGeom>
          <a:noFill/>
          <a:ln/>
        </p:spPr>
        <p:txBody>
          <a:bodyPr wrap="square" lIns="0" tIns="0" rIns="0" bIns="0" rtlCol="0" anchor="ctr"/>
          <a:lstStyle/>
          <a:p>
            <a:pPr algn="l" indent="0" marL="0">
              <a:buNone/>
            </a:pPr>
            <a:r>
              <a:rPr lang="en-US" sz="3000" b="1" dirty="0">
                <a:solidFill>
                  <a:schemeClr val="tx2"/>
                </a:solidFill>
                <a:latin typeface="Cambria" pitchFamily="34" charset="0"/>
                <a:ea typeface="Cambria" pitchFamily="34" charset="-122"/>
                <a:cs typeface="Cambria" pitchFamily="34" charset="-120"/>
              </a:rPr>
              <a:t>Tres métodos de búsqueda</a:t>
            </a:r>
            <a:endParaRPr lang="en-US" sz="3000" dirty="0"/>
          </a:p>
        </p:txBody>
      </p:sp>
      <p:sp>
        <p:nvSpPr>
          <p:cNvPr id="3" name="Tarjeta Dijkstra"/>
          <p:cNvSpPr/>
          <p:nvPr/>
        </p:nvSpPr>
        <p:spPr>
          <a:xfrm>
            <a:off x="457200" y="1188720"/>
            <a:ext cx="2606040" cy="2743200"/>
          </a:xfrm>
          <a:prstGeom prst="roundRect">
            <a:avLst>
              <a:gd name="adj" fmla="val 2807"/>
            </a:avLst>
          </a:prstGeom>
          <a:solidFill>
            <a:schemeClr val="bg2"/>
          </a:solidFill>
          <a:ln w="12700">
            <a:solidFill>
              <a:schemeClr val="bg2"/>
            </a:solidFill>
            <a:prstDash val="solid"/>
          </a:ln>
        </p:spPr>
      </p:sp>
      <p:sp>
        <p:nvSpPr>
          <p:cNvPr id="4" name="Punto Dijkstra"/>
          <p:cNvSpPr/>
          <p:nvPr/>
        </p:nvSpPr>
        <p:spPr>
          <a:xfrm>
            <a:off x="640080" y="1325880"/>
            <a:ext cx="384048" cy="384048"/>
          </a:xfrm>
          <a:prstGeom prst="ellipse">
            <a:avLst/>
          </a:prstGeom>
          <a:solidFill>
            <a:schemeClr val="accent1"/>
          </a:solidFill>
          <a:ln w="12700">
            <a:solidFill>
              <a:schemeClr val="accent1"/>
            </a:solidFill>
            <a:prstDash val="solid"/>
          </a:ln>
        </p:spPr>
      </p:sp>
      <p:sp>
        <p:nvSpPr>
          <p:cNvPr id="5" name="Titulo Dijkstra"/>
          <p:cNvSpPr txBox="1"/>
          <p:nvPr/>
        </p:nvSpPr>
        <p:spPr>
          <a:xfrm>
            <a:off x="1143000" y="1280160"/>
            <a:ext cx="1828800" cy="457200"/>
          </a:xfrm>
          <a:prstGeom prst="rect">
            <a:avLst/>
          </a:prstGeom>
          <a:noFill/>
          <a:ln/>
        </p:spPr>
        <p:txBody>
          <a:bodyPr wrap="square" lIns="0" tIns="0" rIns="0" bIns="0" rtlCol="0" anchor="ctr"/>
          <a:lstStyle/>
          <a:p>
            <a:pPr indent="0" marL="0">
              <a:buNone/>
            </a:pPr>
            <a:r>
              <a:rPr lang="en-US" sz="2000" b="1" dirty="0">
                <a:solidFill>
                  <a:schemeClr val="tx2"/>
                </a:solidFill>
                <a:latin typeface="Cambria" pitchFamily="34" charset="0"/>
                <a:ea typeface="Cambria" pitchFamily="34" charset="-122"/>
                <a:cs typeface="Cambria" pitchFamily="34" charset="-120"/>
              </a:rPr>
              <a:t>Dijkstra</a:t>
            </a:r>
            <a:endParaRPr lang="en-US" sz="2000" dirty="0"/>
          </a:p>
        </p:txBody>
      </p:sp>
      <p:sp>
        <p:nvSpPr>
          <p:cNvPr id="6" name="Subtitulo Dijkstra"/>
          <p:cNvSpPr txBox="1"/>
          <p:nvPr/>
        </p:nvSpPr>
        <p:spPr>
          <a:xfrm>
            <a:off x="640080" y="1828800"/>
            <a:ext cx="2240280" cy="320040"/>
          </a:xfrm>
          <a:prstGeom prst="rect">
            <a:avLst/>
          </a:prstGeom>
          <a:noFill/>
          <a:ln/>
        </p:spPr>
        <p:txBody>
          <a:bodyPr wrap="square" lIns="0" tIns="0" rIns="0" bIns="0" rtlCol="0" anchor="ctr"/>
          <a:lstStyle/>
          <a:p>
            <a:pPr indent="0" marL="0">
              <a:buNone/>
            </a:pPr>
            <a:r>
              <a:rPr lang="en-US" sz="1400" i="1" dirty="0">
                <a:solidFill>
                  <a:schemeClr val="accent6"/>
                </a:solidFill>
                <a:latin typeface="Calibri" pitchFamily="34" charset="0"/>
                <a:ea typeface="Calibri" pitchFamily="34" charset="-122"/>
                <a:cs typeface="Calibri" pitchFamily="34" charset="-120"/>
              </a:rPr>
              <a:t>Referencia</a:t>
            </a:r>
            <a:endParaRPr lang="en-US" sz="1400" dirty="0"/>
          </a:p>
        </p:txBody>
      </p:sp>
      <p:sp>
        <p:nvSpPr>
          <p:cNvPr id="7" name="Lista Dijkstra"/>
          <p:cNvSpPr txBox="1"/>
          <p:nvPr/>
        </p:nvSpPr>
        <p:spPr>
          <a:xfrm>
            <a:off x="640080" y="2240280"/>
            <a:ext cx="2240280" cy="1600200"/>
          </a:xfrm>
          <a:prstGeom prst="rect">
            <a:avLst/>
          </a:prstGeom>
          <a:noFill/>
          <a:ln/>
        </p:spPr>
        <p:txBody>
          <a:bodyPr wrap="square" lIns="0" tIns="0" rIns="0" bIns="0" rtlCol="0" anchor="t"/>
          <a:lstStyle/>
          <a:p>
            <a:pPr marL="342900" indent="-342900">
              <a:spcAft>
                <a:spcPts val="600"/>
              </a:spcAft>
              <a:buSzPct val="100000"/>
              <a:buChar char="•"/>
            </a:pPr>
            <a:r>
              <a:rPr lang="en-US" sz="1500" dirty="0">
                <a:solidFill>
                  <a:schemeClr val="tx1"/>
                </a:solidFill>
                <a:latin typeface="Calibri" pitchFamily="34" charset="0"/>
                <a:ea typeface="Calibri" pitchFamily="34" charset="-122"/>
                <a:cs typeface="Calibri" pitchFamily="34" charset="-120"/>
              </a:rPr>
              <a:t>Óptimo exacto</a:t>
            </a:r>
            <a:endParaRPr lang="en-US" sz="1500" dirty="0"/>
          </a:p>
          <a:p>
            <a:pPr marL="342900" indent="-342900">
              <a:spcAft>
                <a:spcPts val="600"/>
              </a:spcAft>
              <a:buSzPct val="100000"/>
              <a:buChar char="•"/>
            </a:pPr>
            <a:r>
              <a:rPr lang="en-US" sz="1500" dirty="0">
                <a:solidFill>
                  <a:schemeClr val="tx1"/>
                </a:solidFill>
                <a:latin typeface="Calibri" pitchFamily="34" charset="0"/>
                <a:ea typeface="Calibri" pitchFamily="34" charset="-122"/>
                <a:cs typeface="Calibri" pitchFamily="34" charset="-120"/>
              </a:rPr>
              <a:t>Se detiene en el primer punto de encuentro</a:t>
            </a:r>
            <a:endParaRPr lang="en-US" sz="1500" dirty="0"/>
          </a:p>
        </p:txBody>
      </p:sp>
      <p:sp>
        <p:nvSpPr>
          <p:cNvPr id="8" name="Tarjeta ACO clásico"/>
          <p:cNvSpPr/>
          <p:nvPr/>
        </p:nvSpPr>
        <p:spPr>
          <a:xfrm>
            <a:off x="3291840" y="1188720"/>
            <a:ext cx="2606040" cy="2743200"/>
          </a:xfrm>
          <a:prstGeom prst="roundRect">
            <a:avLst>
              <a:gd name="adj" fmla="val 2807"/>
            </a:avLst>
          </a:prstGeom>
          <a:solidFill>
            <a:schemeClr val="bg2"/>
          </a:solidFill>
          <a:ln w="12700">
            <a:solidFill>
              <a:schemeClr val="bg2"/>
            </a:solidFill>
            <a:prstDash val="solid"/>
          </a:ln>
        </p:spPr>
      </p:sp>
      <p:sp>
        <p:nvSpPr>
          <p:cNvPr id="9" name="Punto ACO clásico"/>
          <p:cNvSpPr/>
          <p:nvPr/>
        </p:nvSpPr>
        <p:spPr>
          <a:xfrm>
            <a:off x="3474720" y="1325880"/>
            <a:ext cx="384048" cy="384048"/>
          </a:xfrm>
          <a:prstGeom prst="ellipse">
            <a:avLst/>
          </a:prstGeom>
          <a:solidFill>
            <a:schemeClr val="accent3"/>
          </a:solidFill>
          <a:ln w="12700">
            <a:solidFill>
              <a:schemeClr val="accent3"/>
            </a:solidFill>
            <a:prstDash val="solid"/>
          </a:ln>
        </p:spPr>
      </p:sp>
      <p:sp>
        <p:nvSpPr>
          <p:cNvPr id="10" name="Titulo ACO clásico"/>
          <p:cNvSpPr txBox="1"/>
          <p:nvPr/>
        </p:nvSpPr>
        <p:spPr>
          <a:xfrm>
            <a:off x="3977640" y="1280160"/>
            <a:ext cx="1828800" cy="457200"/>
          </a:xfrm>
          <a:prstGeom prst="rect">
            <a:avLst/>
          </a:prstGeom>
          <a:noFill/>
          <a:ln/>
        </p:spPr>
        <p:txBody>
          <a:bodyPr wrap="square" lIns="0" tIns="0" rIns="0" bIns="0" rtlCol="0" anchor="ctr"/>
          <a:lstStyle/>
          <a:p>
            <a:pPr indent="0" marL="0">
              <a:buNone/>
            </a:pPr>
            <a:r>
              <a:rPr lang="en-US" sz="2000" b="1" dirty="0">
                <a:solidFill>
                  <a:schemeClr val="tx2"/>
                </a:solidFill>
                <a:latin typeface="Cambria" pitchFamily="34" charset="0"/>
                <a:ea typeface="Cambria" pitchFamily="34" charset="-122"/>
                <a:cs typeface="Cambria" pitchFamily="34" charset="-120"/>
              </a:rPr>
              <a:t>ACO clásico</a:t>
            </a:r>
            <a:endParaRPr lang="en-US" sz="2000" dirty="0"/>
          </a:p>
        </p:txBody>
      </p:sp>
      <p:sp>
        <p:nvSpPr>
          <p:cNvPr id="11" name="Subtitulo ACO clásico"/>
          <p:cNvSpPr txBox="1"/>
          <p:nvPr/>
        </p:nvSpPr>
        <p:spPr>
          <a:xfrm>
            <a:off x="3474720" y="1828800"/>
            <a:ext cx="2240280" cy="320040"/>
          </a:xfrm>
          <a:prstGeom prst="rect">
            <a:avLst/>
          </a:prstGeom>
          <a:noFill/>
          <a:ln/>
        </p:spPr>
        <p:txBody>
          <a:bodyPr wrap="square" lIns="0" tIns="0" rIns="0" bIns="0" rtlCol="0" anchor="ctr"/>
          <a:lstStyle/>
          <a:p>
            <a:pPr indent="0" marL="0">
              <a:buNone/>
            </a:pPr>
            <a:r>
              <a:rPr lang="en-US" sz="1400" i="1" dirty="0">
                <a:solidFill>
                  <a:schemeClr val="accent6"/>
                </a:solidFill>
                <a:latin typeface="Calibri" pitchFamily="34" charset="0"/>
                <a:ea typeface="Calibri" pitchFamily="34" charset="-122"/>
                <a:cs typeface="Calibri" pitchFamily="34" charset="-120"/>
              </a:rPr>
              <a:t>Hormigas originales</a:t>
            </a:r>
            <a:endParaRPr lang="en-US" sz="1400" dirty="0"/>
          </a:p>
        </p:txBody>
      </p:sp>
      <p:sp>
        <p:nvSpPr>
          <p:cNvPr id="12" name="Lista ACO clásico"/>
          <p:cNvSpPr txBox="1"/>
          <p:nvPr/>
        </p:nvSpPr>
        <p:spPr>
          <a:xfrm>
            <a:off x="3474720" y="2240280"/>
            <a:ext cx="2240280" cy="1600200"/>
          </a:xfrm>
          <a:prstGeom prst="rect">
            <a:avLst/>
          </a:prstGeom>
          <a:noFill/>
          <a:ln/>
        </p:spPr>
        <p:txBody>
          <a:bodyPr wrap="square" lIns="0" tIns="0" rIns="0" bIns="0" rtlCol="0" anchor="t"/>
          <a:lstStyle/>
          <a:p>
            <a:pPr marL="342900" indent="-342900">
              <a:spcAft>
                <a:spcPts val="600"/>
              </a:spcAft>
              <a:buSzPct val="100000"/>
              <a:buChar char="•"/>
            </a:pPr>
            <a:r>
              <a:rPr lang="en-US" sz="1500" dirty="0">
                <a:solidFill>
                  <a:schemeClr val="tx1"/>
                </a:solidFill>
                <a:latin typeface="Calibri" pitchFamily="34" charset="0"/>
                <a:ea typeface="Calibri" pitchFamily="34" charset="-122"/>
                <a:cs typeface="Calibri" pitchFamily="34" charset="-120"/>
              </a:rPr>
              <a:t>Sin poda ni retroceso</a:t>
            </a:r>
            <a:endParaRPr lang="en-US" sz="1500" dirty="0"/>
          </a:p>
          <a:p>
            <a:pPr marL="342900" indent="-342900">
              <a:spcAft>
                <a:spcPts val="600"/>
              </a:spcAft>
              <a:buSzPct val="100000"/>
              <a:buChar char="•"/>
            </a:pPr>
            <a:r>
              <a:rPr lang="en-US" sz="1500" dirty="0">
                <a:solidFill>
                  <a:schemeClr val="tx1"/>
                </a:solidFill>
                <a:latin typeface="Calibri" pitchFamily="34" charset="0"/>
                <a:ea typeface="Calibri" pitchFamily="34" charset="-122"/>
                <a:cs typeface="Calibri" pitchFamily="34" charset="-120"/>
              </a:rPr>
              <a:t>Visibilidad 1 / costo</a:t>
            </a:r>
            <a:endParaRPr lang="en-US" sz="1500" dirty="0"/>
          </a:p>
          <a:p>
            <a:pPr marL="342900" indent="-342900">
              <a:spcAft>
                <a:spcPts val="600"/>
              </a:spcAft>
              <a:buSzPct val="100000"/>
              <a:buChar char="•"/>
            </a:pPr>
            <a:r>
              <a:rPr lang="en-US" sz="1500" dirty="0">
                <a:solidFill>
                  <a:schemeClr val="tx1"/>
                </a:solidFill>
                <a:latin typeface="Calibri" pitchFamily="34" charset="0"/>
                <a:ea typeface="Calibri" pitchFamily="34" charset="-122"/>
                <a:cs typeface="Calibri" pitchFamily="34" charset="-120"/>
              </a:rPr>
              <a:t>β = 2, fijado antes de medir</a:t>
            </a:r>
            <a:endParaRPr lang="en-US" sz="1500" dirty="0"/>
          </a:p>
        </p:txBody>
      </p:sp>
      <p:sp>
        <p:nvSpPr>
          <p:cNvPr id="13" name="Tarjeta ACO guiado"/>
          <p:cNvSpPr/>
          <p:nvPr/>
        </p:nvSpPr>
        <p:spPr>
          <a:xfrm>
            <a:off x="6126480" y="1188720"/>
            <a:ext cx="2606040" cy="2743200"/>
          </a:xfrm>
          <a:prstGeom prst="roundRect">
            <a:avLst>
              <a:gd name="adj" fmla="val 2807"/>
            </a:avLst>
          </a:prstGeom>
          <a:solidFill>
            <a:schemeClr val="bg2"/>
          </a:solidFill>
          <a:ln w="12700">
            <a:solidFill>
              <a:schemeClr val="bg2"/>
            </a:solidFill>
            <a:prstDash val="solid"/>
          </a:ln>
        </p:spPr>
      </p:sp>
      <p:sp>
        <p:nvSpPr>
          <p:cNvPr id="14" name="Punto ACO guiado"/>
          <p:cNvSpPr/>
          <p:nvPr/>
        </p:nvSpPr>
        <p:spPr>
          <a:xfrm>
            <a:off x="6309360" y="1325880"/>
            <a:ext cx="384048" cy="384048"/>
          </a:xfrm>
          <a:prstGeom prst="ellipse">
            <a:avLst/>
          </a:prstGeom>
          <a:solidFill>
            <a:schemeClr val="accent2"/>
          </a:solidFill>
          <a:ln w="12700">
            <a:solidFill>
              <a:schemeClr val="accent2"/>
            </a:solidFill>
            <a:prstDash val="solid"/>
          </a:ln>
        </p:spPr>
      </p:sp>
      <p:sp>
        <p:nvSpPr>
          <p:cNvPr id="15" name="Titulo ACO guiado"/>
          <p:cNvSpPr txBox="1"/>
          <p:nvPr/>
        </p:nvSpPr>
        <p:spPr>
          <a:xfrm>
            <a:off x="6812280" y="1280160"/>
            <a:ext cx="1828800" cy="457200"/>
          </a:xfrm>
          <a:prstGeom prst="rect">
            <a:avLst/>
          </a:prstGeom>
          <a:noFill/>
          <a:ln/>
        </p:spPr>
        <p:txBody>
          <a:bodyPr wrap="square" lIns="0" tIns="0" rIns="0" bIns="0" rtlCol="0" anchor="ctr"/>
          <a:lstStyle/>
          <a:p>
            <a:pPr indent="0" marL="0">
              <a:buNone/>
            </a:pPr>
            <a:r>
              <a:rPr lang="en-US" sz="2000" b="1" dirty="0">
                <a:solidFill>
                  <a:schemeClr val="tx2"/>
                </a:solidFill>
                <a:latin typeface="Cambria" pitchFamily="34" charset="0"/>
                <a:ea typeface="Cambria" pitchFamily="34" charset="-122"/>
                <a:cs typeface="Cambria" pitchFamily="34" charset="-120"/>
              </a:rPr>
              <a:t>ACO guiado</a:t>
            </a:r>
            <a:endParaRPr lang="en-US" sz="2000" dirty="0"/>
          </a:p>
        </p:txBody>
      </p:sp>
      <p:sp>
        <p:nvSpPr>
          <p:cNvPr id="16" name="Subtitulo ACO guiado"/>
          <p:cNvSpPr txBox="1"/>
          <p:nvPr/>
        </p:nvSpPr>
        <p:spPr>
          <a:xfrm>
            <a:off x="6309360" y="1828800"/>
            <a:ext cx="2240280" cy="320040"/>
          </a:xfrm>
          <a:prstGeom prst="rect">
            <a:avLst/>
          </a:prstGeom>
          <a:noFill/>
          <a:ln/>
        </p:spPr>
        <p:txBody>
          <a:bodyPr wrap="square" lIns="0" tIns="0" rIns="0" bIns="0" rtlCol="0" anchor="ctr"/>
          <a:lstStyle/>
          <a:p>
            <a:pPr indent="0" marL="0">
              <a:buNone/>
            </a:pPr>
            <a:r>
              <a:rPr lang="en-US" sz="1400" i="1" dirty="0">
                <a:solidFill>
                  <a:schemeClr val="accent6"/>
                </a:solidFill>
                <a:latin typeface="Calibri" pitchFamily="34" charset="0"/>
                <a:ea typeface="Calibri" pitchFamily="34" charset="-122"/>
                <a:cs typeface="Calibri" pitchFamily="34" charset="-120"/>
              </a:rPr>
              <a:t>Con tres correcciones</a:t>
            </a:r>
            <a:endParaRPr lang="en-US" sz="1400" dirty="0"/>
          </a:p>
        </p:txBody>
      </p:sp>
      <p:sp>
        <p:nvSpPr>
          <p:cNvPr id="17" name="Lista ACO guiado"/>
          <p:cNvSpPr txBox="1"/>
          <p:nvPr/>
        </p:nvSpPr>
        <p:spPr>
          <a:xfrm>
            <a:off x="6309360" y="2240280"/>
            <a:ext cx="2240280" cy="1600200"/>
          </a:xfrm>
          <a:prstGeom prst="rect">
            <a:avLst/>
          </a:prstGeom>
          <a:noFill/>
          <a:ln/>
        </p:spPr>
        <p:txBody>
          <a:bodyPr wrap="square" lIns="0" tIns="0" rIns="0" bIns="0" rtlCol="0" anchor="t"/>
          <a:lstStyle/>
          <a:p>
            <a:pPr marL="342900" indent="-342900">
              <a:spcAft>
                <a:spcPts val="600"/>
              </a:spcAft>
              <a:buSzPct val="100000"/>
              <a:buChar char="•"/>
            </a:pPr>
            <a:r>
              <a:rPr lang="en-US" sz="1500" dirty="0">
                <a:solidFill>
                  <a:schemeClr val="tx1"/>
                </a:solidFill>
                <a:latin typeface="Calibri" pitchFamily="34" charset="0"/>
                <a:ea typeface="Calibri" pitchFamily="34" charset="-122"/>
                <a:cs typeface="Calibri" pitchFamily="34" charset="-120"/>
              </a:rPr>
              <a:t>Poda de callejones</a:t>
            </a:r>
            <a:endParaRPr lang="en-US" sz="1500" dirty="0"/>
          </a:p>
          <a:p>
            <a:pPr marL="342900" indent="-342900">
              <a:spcAft>
                <a:spcPts val="600"/>
              </a:spcAft>
              <a:buSzPct val="100000"/>
              <a:buChar char="•"/>
            </a:pPr>
            <a:r>
              <a:rPr lang="en-US" sz="1500" dirty="0">
                <a:solidFill>
                  <a:schemeClr val="tx1"/>
                </a:solidFill>
                <a:latin typeface="Calibri" pitchFamily="34" charset="0"/>
                <a:ea typeface="Calibri" pitchFamily="34" charset="-122"/>
                <a:cs typeface="Calibri" pitchFamily="34" charset="-120"/>
              </a:rPr>
              <a:t>Retroceso</a:t>
            </a:r>
            <a:endParaRPr lang="en-US" sz="1500" dirty="0"/>
          </a:p>
          <a:p>
            <a:pPr marL="342900" indent="-342900">
              <a:spcAft>
                <a:spcPts val="600"/>
              </a:spcAft>
              <a:buSzPct val="100000"/>
              <a:buChar char="•"/>
            </a:pPr>
            <a:r>
              <a:rPr lang="en-US" sz="1500" dirty="0">
                <a:solidFill>
                  <a:schemeClr val="tx1"/>
                </a:solidFill>
                <a:latin typeface="Calibri" pitchFamily="34" charset="0"/>
                <a:ea typeface="Calibri" pitchFamily="34" charset="-122"/>
                <a:cs typeface="Calibri" pitchFamily="34" charset="-120"/>
              </a:rPr>
              <a:t>Heurística tipo A*</a:t>
            </a:r>
            <a:endParaRPr lang="en-US" sz="1500" dirty="0"/>
          </a:p>
        </p:txBody>
      </p:sp>
      <p:sp>
        <p:nvSpPr>
          <p:cNvPr id="18" name="Formula"/>
          <p:cNvSpPr txBox="1"/>
          <p:nvPr/>
        </p:nvSpPr>
        <p:spPr>
          <a:xfrm>
            <a:off x="457200" y="4160520"/>
            <a:ext cx="8229600" cy="411480"/>
          </a:xfrm>
          <a:prstGeom prst="rect">
            <a:avLst/>
          </a:prstGeom>
          <a:noFill/>
          <a:ln/>
        </p:spPr>
        <p:txBody>
          <a:bodyPr wrap="square" lIns="0" tIns="0" rIns="0" bIns="0" rtlCol="0" anchor="ctr"/>
          <a:lstStyle/>
          <a:p>
            <a:pPr algn="ctr" indent="0" marL="0">
              <a:buNone/>
            </a:pPr>
            <a:r>
              <a:rPr lang="en-US" sz="1400" dirty="0">
                <a:solidFill>
                  <a:schemeClr val="tx2"/>
                </a:solidFill>
                <a:latin typeface="Consolas" pitchFamily="34" charset="0"/>
                <a:ea typeface="Consolas" pitchFamily="34" charset="-122"/>
                <a:cs typeface="Consolas" pitchFamily="34" charset="-120"/>
              </a:rPr>
              <a:t>p(i→j) = τ^α · η^β / Σ(τ^α · η^β)   τ: feromona   η: visibilidad</a:t>
            </a:r>
            <a:endParaRPr lang="en-US" sz="1400" dirty="0"/>
          </a:p>
        </p:txBody>
      </p:sp>
      <p:sp>
        <p:nvSpPr>
          <p:cNvPr id="19" name="Expositor"/>
          <p:cNvSpPr txBox="1"/>
          <p:nvPr/>
        </p:nvSpPr>
        <p:spPr>
          <a:xfrm>
            <a:off x="6309360" y="4828032"/>
            <a:ext cx="2011680" cy="228600"/>
          </a:xfrm>
          <a:prstGeom prst="rect">
            <a:avLst/>
          </a:prstGeom>
          <a:noFill/>
          <a:ln/>
        </p:spPr>
        <p:txBody>
          <a:bodyPr wrap="square" lIns="0" tIns="0" rIns="0" bIns="0" rtlCol="0" anchor="ctr"/>
          <a:lstStyle/>
          <a:p>
            <a:pPr algn="r" indent="0" marL="0">
              <a:buNone/>
            </a:pPr>
            <a:r>
              <a:rPr lang="en-US" sz="1000" dirty="0">
                <a:solidFill>
                  <a:schemeClr val="accent6"/>
                </a:solidFill>
                <a:latin typeface="Calibri" pitchFamily="34" charset="0"/>
                <a:ea typeface="Calibri" pitchFamily="34" charset="-122"/>
                <a:cs typeface="Calibri" pitchFamily="34" charset="-120"/>
              </a:rPr>
              <a:t>Erika</a:t>
            </a:r>
            <a:endParaRPr lang="en-US" sz="1000" dirty="0"/>
          </a:p>
        </p:txBody>
      </p:sp>
      <p:sp>
        <p:nvSpPr>
          <p:cNvPr id="25" name="Slide Number Placeholder 0"/>
          <p:cNvSpPr>
            <a:spLocks noGrp="1"/>
          </p:cNvSpPr>
          <p:nvPr>
            <p:ph type="sldNum" sz="quarter" idx="4294967295"/>
          </p:nvPr>
        </p:nvSpPr>
        <p:spPr>
          <a:xfrm>
            <a:off x="8412480" y="4828032"/>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latin typeface="Calibri"/>
                <a:ea typeface="Calibri"/>
                <a:cs typeface="Calibri"/>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ítulo"/>
          <p:cNvSpPr txBox="1"/>
          <p:nvPr/>
        </p:nvSpPr>
        <p:spPr>
          <a:xfrm>
            <a:off x="457200" y="256032"/>
            <a:ext cx="8229600" cy="731520"/>
          </a:xfrm>
          <a:prstGeom prst="rect">
            <a:avLst/>
          </a:prstGeom>
          <a:noFill/>
          <a:ln/>
        </p:spPr>
        <p:txBody>
          <a:bodyPr wrap="square" lIns="0" tIns="0" rIns="0" bIns="0" rtlCol="0" anchor="ctr"/>
          <a:lstStyle/>
          <a:p>
            <a:pPr algn="l" indent="0" marL="0">
              <a:buNone/>
            </a:pPr>
            <a:r>
              <a:rPr lang="en-US" sz="3000" b="1" dirty="0">
                <a:solidFill>
                  <a:schemeClr val="tx2"/>
                </a:solidFill>
                <a:latin typeface="Cambria" pitchFamily="34" charset="0"/>
                <a:ea typeface="Cambria" pitchFamily="34" charset="-122"/>
                <a:cs typeface="Cambria" pitchFamily="34" charset="-120"/>
              </a:rPr>
              <a:t>Auditoría: ¿ACO hace trampa?</a:t>
            </a:r>
            <a:endParaRPr lang="en-US" sz="3000" dirty="0"/>
          </a:p>
        </p:txBody>
      </p:sp>
      <p:sp>
        <p:nvSpPr>
          <p:cNvPr id="3" name="Tarjeta grep"/>
          <p:cNvSpPr/>
          <p:nvPr/>
        </p:nvSpPr>
        <p:spPr>
          <a:xfrm>
            <a:off x="457200" y="1188720"/>
            <a:ext cx="2926080" cy="3017520"/>
          </a:xfrm>
          <a:prstGeom prst="roundRect">
            <a:avLst>
              <a:gd name="adj" fmla="val 2500"/>
            </a:avLst>
          </a:prstGeom>
          <a:solidFill>
            <a:schemeClr val="bg2"/>
          </a:solidFill>
          <a:ln w="12700">
            <a:solidFill>
              <a:schemeClr val="bg2"/>
            </a:solidFill>
            <a:prstDash val="solid"/>
          </a:ln>
        </p:spPr>
      </p:sp>
      <p:sp>
        <p:nvSpPr>
          <p:cNvPr id="4" name="Grep cifra"/>
          <p:cNvSpPr txBox="1"/>
          <p:nvPr/>
        </p:nvSpPr>
        <p:spPr>
          <a:xfrm>
            <a:off x="685800" y="1280160"/>
            <a:ext cx="2468880" cy="685800"/>
          </a:xfrm>
          <a:prstGeom prst="rect">
            <a:avLst/>
          </a:prstGeom>
          <a:noFill/>
          <a:ln/>
        </p:spPr>
        <p:txBody>
          <a:bodyPr wrap="square" lIns="0" tIns="0" rIns="0" bIns="0" rtlCol="0" anchor="b"/>
          <a:lstStyle/>
          <a:p>
            <a:pPr algn="l" indent="0" marL="0">
              <a:buNone/>
            </a:pPr>
            <a:r>
              <a:rPr lang="en-US" sz="3800" b="1" dirty="0">
                <a:solidFill>
                  <a:schemeClr val="accent1"/>
                </a:solidFill>
                <a:latin typeface="Cambria" pitchFamily="34" charset="0"/>
                <a:ea typeface="Cambria" pitchFamily="34" charset="-122"/>
                <a:cs typeface="Cambria" pitchFamily="34" charset="-120"/>
              </a:rPr>
              <a:t>0</a:t>
            </a:r>
            <a:endParaRPr lang="en-US" sz="3800" dirty="0"/>
          </a:p>
        </p:txBody>
      </p:sp>
      <p:sp>
        <p:nvSpPr>
          <p:cNvPr id="5" name="Grep etiqueta"/>
          <p:cNvSpPr txBox="1"/>
          <p:nvPr/>
        </p:nvSpPr>
        <p:spPr>
          <a:xfrm>
            <a:off x="685800" y="1993392"/>
            <a:ext cx="2468880" cy="457200"/>
          </a:xfrm>
          <a:prstGeom prst="rect">
            <a:avLst/>
          </a:prstGeom>
          <a:noFill/>
          <a:ln/>
        </p:spPr>
        <p:txBody>
          <a:bodyPr wrap="square" lIns="0" tIns="0" rIns="0" bIns="0" rtlCol="0" anchor="t"/>
          <a:lstStyle/>
          <a:p>
            <a:pPr algn="l" indent="0" marL="0">
              <a:buNone/>
            </a:pPr>
            <a:r>
              <a:rPr lang="en-US" sz="1400" dirty="0">
                <a:solidFill>
                  <a:schemeClr val="tx1"/>
                </a:solidFill>
                <a:latin typeface="Calibri" pitchFamily="34" charset="0"/>
                <a:ea typeface="Calibri" pitchFamily="34" charset="-122"/>
                <a:cs typeface="Calibri" pitchFamily="34" charset="-120"/>
              </a:rPr>
              <a:t>coincidencias de "dijkstra" en el código de ACO: no lo llama</a:t>
            </a:r>
            <a:endParaRPr lang="en-US" sz="1400" dirty="0"/>
          </a:p>
        </p:txBody>
      </p:sp>
      <p:sp>
        <p:nvSpPr>
          <p:cNvPr id="6" name="Nota auditoria"/>
          <p:cNvSpPr txBox="1"/>
          <p:nvPr/>
        </p:nvSpPr>
        <p:spPr>
          <a:xfrm>
            <a:off x="685800" y="3017520"/>
            <a:ext cx="2514600" cy="1005840"/>
          </a:xfrm>
          <a:prstGeom prst="rect">
            <a:avLst/>
          </a:prstGeom>
          <a:noFill/>
          <a:ln/>
        </p:spPr>
        <p:txBody>
          <a:bodyPr wrap="square" lIns="0" tIns="0" rIns="0" bIns="0" rtlCol="0" anchor="t"/>
          <a:lstStyle/>
          <a:p>
            <a:pPr indent="0" marL="0">
              <a:buNone/>
            </a:pPr>
            <a:r>
              <a:rPr lang="en-US" sz="1400" dirty="0">
                <a:solidFill>
                  <a:schemeClr val="tx1"/>
                </a:solidFill>
                <a:latin typeface="Calibri" pitchFamily="34" charset="0"/>
                <a:ea typeface="Calibri" pitchFamily="34" charset="-122"/>
                <a:cs typeface="Calibri" pitchFamily="34" charset="-120"/>
              </a:rPr>
              <a:t>Probamos 3 variantes en 5 orígenes de H, con 20 corridas</a:t>
            </a:r>
            <a:endParaRPr lang="en-US" sz="1400" dirty="0"/>
          </a:p>
        </p:txBody>
      </p:sp>
      <p:graphicFrame>
        <p:nvGraphicFramePr>
          <p:cNvPr id="7" name="Tabla auditoria"/>
          <p:cNvGraphicFramePr>
            <a:graphicFrameLocks noGrp="1"/>
          </p:cNvGraphicFramePr>
          <p:nvPr>
            <p:extLst>
              <p:ext uri="{D42A27DB-BD31-4B8C-83A1-F6EECF244321}">
                <p14:modId xmlns:p14="http://schemas.microsoft.com/office/powerpoint/2010/main" val="1579011935"/>
              </p:ext>
            </p:extLst>
          </p:nvPr>
        </p:nvGraphicFramePr>
        <p:xfrm>
          <a:off x="3657600" y="1188720"/>
          <a:ext cx="5029200" cy="914400"/>
        </p:xfrm>
        <a:graphic>
          <a:graphicData uri="http://schemas.openxmlformats.org/drawingml/2006/table">
            <a:tbl>
              <a:tblPr/>
              <a:tblGrid>
                <a:gridCol w="2743200"/>
                <a:gridCol w="822960"/>
                <a:gridCol w="1463040"/>
              </a:tblGrid>
              <a:tr h="566928">
                <a:tc>
                  <a:txBody>
                    <a:bodyPr/>
                    <a:lstStyle/>
                    <a:p>
                      <a:pPr algn="ctr" indent="0" marL="0">
                        <a:buNone/>
                      </a:pPr>
                      <a:r>
                        <a:rPr lang="en-US" sz="1400" b="1" dirty="0">
                          <a:solidFill>
                            <a:schemeClr val="bg1"/>
                          </a:solidFill>
                          <a:latin typeface="Calibri" pitchFamily="34" charset="0"/>
                          <a:ea typeface="Calibri" pitchFamily="34" charset="-122"/>
                          <a:cs typeface="Calibri" pitchFamily="34" charset="-120"/>
                        </a:rPr>
                        <a:t>Variante</a:t>
                      </a:r>
                      <a:endParaRPr lang="en-US" sz="1400" dirty="0">
                        <a:latin typeface="Calibri" charset="0"/>
                        <a:ea typeface="Calibri" charset="0"/>
                        <a:cs typeface="Calibri" charset="0"/>
                      </a:endParaRPr>
                    </a:p>
                  </a:txBody>
                  <a:tcPr marL="91440" marR="91440" marT="45720" marB="45720"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chemeClr val="accent1"/>
                    </a:solidFill>
                  </a:tcPr>
                </a:tc>
                <a:tc>
                  <a:txBody>
                    <a:bodyPr/>
                    <a:lstStyle/>
                    <a:p>
                      <a:pPr algn="ctr" indent="0" marL="0">
                        <a:buNone/>
                      </a:pPr>
                      <a:r>
                        <a:rPr lang="en-US" sz="1400" b="1" dirty="0">
                          <a:solidFill>
                            <a:schemeClr val="bg1"/>
                          </a:solidFill>
                          <a:latin typeface="Calibri" pitchFamily="34" charset="0"/>
                          <a:ea typeface="Calibri" pitchFamily="34" charset="-122"/>
                          <a:cs typeface="Calibri" pitchFamily="34" charset="-120"/>
                        </a:rPr>
                        <a:t>Éxito</a:t>
                      </a:r>
                      <a:endParaRPr lang="en-US" sz="1400" dirty="0">
                        <a:latin typeface="Calibri" charset="0"/>
                        <a:ea typeface="Calibri" charset="0"/>
                        <a:cs typeface="Calibri" charset="0"/>
                      </a:endParaRPr>
                    </a:p>
                  </a:txBody>
                  <a:tcPr marL="91440" marR="91440" marT="45720" marB="45720"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chemeClr val="accent1"/>
                    </a:solidFill>
                  </a:tcPr>
                </a:tc>
                <a:tc>
                  <a:txBody>
                    <a:bodyPr/>
                    <a:lstStyle/>
                    <a:p>
                      <a:pPr algn="ctr" indent="0" marL="0">
                        <a:buNone/>
                      </a:pPr>
                      <a:r>
                        <a:rPr lang="en-US" sz="1400" b="1" dirty="0">
                          <a:solidFill>
                            <a:schemeClr val="bg1"/>
                          </a:solidFill>
                          <a:latin typeface="Calibri" pitchFamily="34" charset="0"/>
                          <a:ea typeface="Calibri" pitchFamily="34" charset="-122"/>
                          <a:cs typeface="Calibri" pitchFamily="34" charset="-120"/>
                        </a:rPr>
                        <a:t>Brecha frente a Dijkstra</a:t>
                      </a:r>
                      <a:endParaRPr lang="en-US" sz="1400" dirty="0">
                        <a:latin typeface="Calibri" charset="0"/>
                        <a:ea typeface="Calibri" charset="0"/>
                        <a:cs typeface="Calibri" charset="0"/>
                      </a:endParaRPr>
                    </a:p>
                  </a:txBody>
                  <a:tcPr marL="91440" marR="91440" marT="45720" marB="45720"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chemeClr val="accent1"/>
                    </a:solidFill>
                  </a:tcPr>
                </a:tc>
              </a:tr>
              <a:tr h="566928">
                <a:tc>
                  <a:txBody>
                    <a:bodyPr/>
                    <a:lstStyle/>
                    <a:p>
                      <a:pPr algn="l" indent="0" marL="0">
                        <a:buNone/>
                      </a:pPr>
                      <a:r>
                        <a:rPr lang="en-US" sz="1400" dirty="0">
                          <a:solidFill>
                            <a:srgbClr val="000000"/>
                          </a:solidFill>
                          <a:latin typeface="Calibri" pitchFamily="34" charset="0"/>
                          <a:ea typeface="Calibri" pitchFamily="34" charset="-122"/>
                          <a:cs typeface="Calibri" pitchFamily="34" charset="-120"/>
                        </a:rPr>
                        <a:t>a) Poda, retroceso y heurística</a:t>
                      </a:r>
                      <a:endParaRPr lang="en-US" sz="1400" dirty="0">
                        <a:latin typeface="Calibri" charset="0"/>
                        <a:ea typeface="Calibri" charset="0"/>
                        <a:cs typeface="Calibri" charset="0"/>
                      </a:endParaRPr>
                    </a:p>
                  </a:txBody>
                  <a:tcPr marL="91440" marR="91440" marT="45720" marB="45720"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algn="ctr" indent="0" marL="0">
                        <a:buNone/>
                      </a:pPr>
                      <a:r>
                        <a:rPr lang="en-US" sz="1400" dirty="0">
                          <a:solidFill>
                            <a:srgbClr val="000000"/>
                          </a:solidFill>
                          <a:latin typeface="Calibri" pitchFamily="34" charset="0"/>
                          <a:ea typeface="Calibri" pitchFamily="34" charset="-122"/>
                          <a:cs typeface="Calibri" pitchFamily="34" charset="-120"/>
                        </a:rPr>
                        <a:t>100 %</a:t>
                      </a:r>
                      <a:endParaRPr lang="en-US" sz="1400" dirty="0">
                        <a:latin typeface="Calibri" charset="0"/>
                        <a:ea typeface="Calibri" charset="0"/>
                        <a:cs typeface="Calibri" charset="0"/>
                      </a:endParaRPr>
                    </a:p>
                  </a:txBody>
                  <a:tcPr marL="91440" marR="91440" marT="45720" marB="45720"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algn="ctr" indent="0" marL="0">
                        <a:buNone/>
                      </a:pPr>
                      <a:r>
                        <a:rPr lang="en-US" sz="1400" dirty="0">
                          <a:solidFill>
                            <a:srgbClr val="000000"/>
                          </a:solidFill>
                          <a:latin typeface="Calibri" pitchFamily="34" charset="0"/>
                          <a:ea typeface="Calibri" pitchFamily="34" charset="-122"/>
                          <a:cs typeface="Calibri" pitchFamily="34" charset="-120"/>
                        </a:rPr>
                        <a:t>0.00 %</a:t>
                      </a:r>
                      <a:endParaRPr lang="en-US" sz="1400" dirty="0">
                        <a:latin typeface="Calibri" charset="0"/>
                        <a:ea typeface="Calibri" charset="0"/>
                        <a:cs typeface="Calibri" charset="0"/>
                      </a:endParaRPr>
                    </a:p>
                  </a:txBody>
                  <a:tcPr marL="91440" marR="91440" marT="45720" marB="45720"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r>
              <a:tr h="566928">
                <a:tc>
                  <a:txBody>
                    <a:bodyPr/>
                    <a:lstStyle/>
                    <a:p>
                      <a:pPr algn="l" indent="0" marL="0">
                        <a:buNone/>
                      </a:pPr>
                      <a:r>
                        <a:rPr lang="en-US" sz="1400" dirty="0">
                          <a:solidFill>
                            <a:srgbClr val="000000"/>
                          </a:solidFill>
                          <a:latin typeface="Calibri" pitchFamily="34" charset="0"/>
                          <a:ea typeface="Calibri" pitchFamily="34" charset="-122"/>
                          <a:cs typeface="Calibri" pitchFamily="34" charset="-120"/>
                        </a:rPr>
                        <a:t>b) Poda y retroceso, sin heurística</a:t>
                      </a:r>
                      <a:endParaRPr lang="en-US" sz="1400" dirty="0">
                        <a:latin typeface="Calibri" charset="0"/>
                        <a:ea typeface="Calibri" charset="0"/>
                        <a:cs typeface="Calibri" charset="0"/>
                      </a:endParaRPr>
                    </a:p>
                  </a:txBody>
                  <a:tcPr marL="91440" marR="91440" marT="45720" marB="45720"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algn="ctr" indent="0" marL="0">
                        <a:buNone/>
                      </a:pPr>
                      <a:r>
                        <a:rPr lang="en-US" sz="1400" dirty="0">
                          <a:solidFill>
                            <a:srgbClr val="000000"/>
                          </a:solidFill>
                          <a:latin typeface="Calibri" pitchFamily="34" charset="0"/>
                          <a:ea typeface="Calibri" pitchFamily="34" charset="-122"/>
                          <a:cs typeface="Calibri" pitchFamily="34" charset="-120"/>
                        </a:rPr>
                        <a:t>100 %</a:t>
                      </a:r>
                      <a:endParaRPr lang="en-US" sz="1400" dirty="0">
                        <a:latin typeface="Calibri" charset="0"/>
                        <a:ea typeface="Calibri" charset="0"/>
                        <a:cs typeface="Calibri" charset="0"/>
                      </a:endParaRPr>
                    </a:p>
                  </a:txBody>
                  <a:tcPr marL="91440" marR="91440" marT="45720" marB="45720"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algn="ctr" indent="0" marL="0">
                        <a:buNone/>
                      </a:pPr>
                      <a:r>
                        <a:rPr lang="en-US" sz="1400" dirty="0">
                          <a:solidFill>
                            <a:srgbClr val="000000"/>
                          </a:solidFill>
                          <a:latin typeface="Calibri" pitchFamily="34" charset="0"/>
                          <a:ea typeface="Calibri" pitchFamily="34" charset="-122"/>
                          <a:cs typeface="Calibri" pitchFamily="34" charset="-120"/>
                        </a:rPr>
                        <a:t>0.00 %</a:t>
                      </a:r>
                      <a:endParaRPr lang="en-US" sz="1400" dirty="0">
                        <a:latin typeface="Calibri" charset="0"/>
                        <a:ea typeface="Calibri" charset="0"/>
                        <a:cs typeface="Calibri" charset="0"/>
                      </a:endParaRPr>
                    </a:p>
                  </a:txBody>
                  <a:tcPr marL="91440" marR="91440" marT="45720" marB="45720"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r>
              <a:tr h="566928">
                <a:tc>
                  <a:txBody>
                    <a:bodyPr/>
                    <a:lstStyle/>
                    <a:p>
                      <a:pPr algn="l" indent="0" marL="0">
                        <a:buNone/>
                      </a:pPr>
                      <a:r>
                        <a:rPr lang="en-US" sz="1400" b="1" dirty="0">
                          <a:solidFill>
                            <a:srgbClr val="000000"/>
                          </a:solidFill>
                          <a:latin typeface="Calibri" pitchFamily="34" charset="0"/>
                          <a:ea typeface="Calibri" pitchFamily="34" charset="-122"/>
                          <a:cs typeface="Calibri" pitchFamily="34" charset="-120"/>
                        </a:rPr>
                        <a:t>c) Sin poda ni retroceso</a:t>
                      </a:r>
                      <a:endParaRPr lang="en-US" sz="1400" dirty="0">
                        <a:latin typeface="Calibri" charset="0"/>
                        <a:ea typeface="Calibri" charset="0"/>
                        <a:cs typeface="Calibri" charset="0"/>
                      </a:endParaRPr>
                    </a:p>
                  </a:txBody>
                  <a:tcPr marL="91440" marR="91440" marT="45720" marB="45720"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algn="ctr" indent="0" marL="0">
                        <a:buNone/>
                      </a:pPr>
                      <a:r>
                        <a:rPr lang="en-US" sz="1400" b="1" dirty="0">
                          <a:solidFill>
                            <a:srgbClr val="000000"/>
                          </a:solidFill>
                          <a:latin typeface="Calibri" pitchFamily="34" charset="0"/>
                          <a:ea typeface="Calibri" pitchFamily="34" charset="-122"/>
                          <a:cs typeface="Calibri" pitchFamily="34" charset="-120"/>
                        </a:rPr>
                        <a:t>100 %</a:t>
                      </a:r>
                      <a:endParaRPr lang="en-US" sz="1400" dirty="0">
                        <a:latin typeface="Calibri" charset="0"/>
                        <a:ea typeface="Calibri" charset="0"/>
                        <a:cs typeface="Calibri" charset="0"/>
                      </a:endParaRPr>
                    </a:p>
                  </a:txBody>
                  <a:tcPr marL="91440" marR="91440" marT="45720" marB="45720"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algn="ctr" indent="0" marL="0">
                        <a:buNone/>
                      </a:pPr>
                      <a:r>
                        <a:rPr lang="en-US" sz="1400" b="1" dirty="0">
                          <a:solidFill>
                            <a:schemeClr val="accent5"/>
                          </a:solidFill>
                          <a:latin typeface="Calibri" pitchFamily="34" charset="0"/>
                          <a:ea typeface="Calibri" pitchFamily="34" charset="-122"/>
                          <a:cs typeface="Calibri" pitchFamily="34" charset="-120"/>
                        </a:rPr>
                        <a:t>hasta 7.54 %</a:t>
                      </a:r>
                      <a:endParaRPr lang="en-US" sz="1400" dirty="0">
                        <a:latin typeface="Calibri" charset="0"/>
                        <a:ea typeface="Calibri" charset="0"/>
                        <a:cs typeface="Calibri" charset="0"/>
                      </a:endParaRPr>
                    </a:p>
                  </a:txBody>
                  <a:tcPr marL="91440" marR="91440" marT="45720" marB="45720"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r>
            </a:tbl>
          </a:graphicData>
        </a:graphic>
      </p:graphicFrame>
      <p:sp>
        <p:nvSpPr>
          <p:cNvPr id="8" name="Conclusion auditoria"/>
          <p:cNvSpPr txBox="1"/>
          <p:nvPr/>
        </p:nvSpPr>
        <p:spPr>
          <a:xfrm>
            <a:off x="3657600" y="3657600"/>
            <a:ext cx="5029200" cy="868680"/>
          </a:xfrm>
          <a:prstGeom prst="rect">
            <a:avLst/>
          </a:prstGeom>
          <a:noFill/>
          <a:ln/>
        </p:spPr>
        <p:txBody>
          <a:bodyPr wrap="square" lIns="0" tIns="0" rIns="0" bIns="0" rtlCol="0" anchor="t"/>
          <a:lstStyle/>
          <a:p>
            <a:pPr indent="0" marL="0">
              <a:buNone/>
            </a:pPr>
            <a:r>
              <a:rPr lang="en-US" sz="1600" b="1" dirty="0">
                <a:solidFill>
                  <a:schemeClr val="tx2"/>
                </a:solidFill>
                <a:latin typeface="Calibri" pitchFamily="34" charset="0"/>
                <a:ea typeface="Calibri" pitchFamily="34" charset="-122"/>
                <a:cs typeface="Calibri" pitchFamily="34" charset="-120"/>
              </a:rPr>
              <a:t>La poda de callejones es la corrección que más pesa; la heurística no hace falta. Por eso corrimos las dos variantes en todo.</a:t>
            </a:r>
            <a:endParaRPr lang="en-US" sz="1600" dirty="0"/>
          </a:p>
        </p:txBody>
      </p:sp>
      <p:sp>
        <p:nvSpPr>
          <p:cNvPr id="9" name="Expositor"/>
          <p:cNvSpPr txBox="1"/>
          <p:nvPr/>
        </p:nvSpPr>
        <p:spPr>
          <a:xfrm>
            <a:off x="6309360" y="4828032"/>
            <a:ext cx="2011680" cy="228600"/>
          </a:xfrm>
          <a:prstGeom prst="rect">
            <a:avLst/>
          </a:prstGeom>
          <a:noFill/>
          <a:ln/>
        </p:spPr>
        <p:txBody>
          <a:bodyPr wrap="square" lIns="0" tIns="0" rIns="0" bIns="0" rtlCol="0" anchor="ctr"/>
          <a:lstStyle/>
          <a:p>
            <a:pPr algn="r" indent="0" marL="0">
              <a:buNone/>
            </a:pPr>
            <a:r>
              <a:rPr lang="en-US" sz="1000" dirty="0">
                <a:solidFill>
                  <a:schemeClr val="accent6"/>
                </a:solidFill>
                <a:latin typeface="Calibri" pitchFamily="34" charset="0"/>
                <a:ea typeface="Calibri" pitchFamily="34" charset="-122"/>
                <a:cs typeface="Calibri" pitchFamily="34" charset="-120"/>
              </a:rPr>
              <a:t>Erika</a:t>
            </a:r>
            <a:endParaRPr lang="en-US" sz="1000" dirty="0"/>
          </a:p>
        </p:txBody>
      </p:sp>
      <p:sp>
        <p:nvSpPr>
          <p:cNvPr id="25" name="Slide Number Placeholder 0"/>
          <p:cNvSpPr>
            <a:spLocks noGrp="1"/>
          </p:cNvSpPr>
          <p:nvPr>
            <p:ph type="sldNum" sz="quarter" idx="4294967295"/>
          </p:nvPr>
        </p:nvSpPr>
        <p:spPr>
          <a:xfrm>
            <a:off x="8412480" y="4828032"/>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latin typeface="Calibri"/>
                <a:ea typeface="Calibri"/>
                <a:cs typeface="Calibri"/>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ítulo"/>
          <p:cNvSpPr txBox="1"/>
          <p:nvPr/>
        </p:nvSpPr>
        <p:spPr>
          <a:xfrm>
            <a:off x="457200" y="256032"/>
            <a:ext cx="8229600" cy="731520"/>
          </a:xfrm>
          <a:prstGeom prst="rect">
            <a:avLst/>
          </a:prstGeom>
          <a:noFill/>
          <a:ln/>
        </p:spPr>
        <p:txBody>
          <a:bodyPr wrap="square" lIns="0" tIns="0" rIns="0" bIns="0" rtlCol="0" anchor="ctr"/>
          <a:lstStyle/>
          <a:p>
            <a:pPr algn="l" indent="0" marL="0">
              <a:buNone/>
            </a:pPr>
            <a:r>
              <a:rPr lang="en-US" sz="3000" b="1" dirty="0">
                <a:solidFill>
                  <a:schemeClr val="tx2"/>
                </a:solidFill>
                <a:latin typeface="Cambria" pitchFamily="34" charset="0"/>
                <a:ea typeface="Cambria" pitchFamily="34" charset="-122"/>
                <a:cs typeface="Cambria" pitchFamily="34" charset="-120"/>
              </a:rPr>
              <a:t>Resultados: calidad y tiempo</a:t>
            </a:r>
            <a:endParaRPr lang="en-US" sz="3000" dirty="0"/>
          </a:p>
        </p:txBody>
      </p:sp>
      <p:sp>
        <p:nvSpPr>
          <p:cNvPr id="3" name="Guiado cifra"/>
          <p:cNvSpPr txBox="1"/>
          <p:nvPr/>
        </p:nvSpPr>
        <p:spPr>
          <a:xfrm>
            <a:off x="457200" y="1097280"/>
            <a:ext cx="2377440" cy="685800"/>
          </a:xfrm>
          <a:prstGeom prst="rect">
            <a:avLst/>
          </a:prstGeom>
          <a:noFill/>
          <a:ln/>
        </p:spPr>
        <p:txBody>
          <a:bodyPr wrap="square" lIns="0" tIns="0" rIns="0" bIns="0" rtlCol="0" anchor="b"/>
          <a:lstStyle/>
          <a:p>
            <a:pPr algn="l" indent="0" marL="0">
              <a:buNone/>
            </a:pPr>
            <a:r>
              <a:rPr lang="en-US" sz="3800" b="1" dirty="0">
                <a:solidFill>
                  <a:schemeClr val="accent1"/>
                </a:solidFill>
                <a:latin typeface="Cambria" pitchFamily="34" charset="0"/>
                <a:ea typeface="Cambria" pitchFamily="34" charset="-122"/>
                <a:cs typeface="Cambria" pitchFamily="34" charset="-120"/>
              </a:rPr>
              <a:t>100 %</a:t>
            </a:r>
            <a:endParaRPr lang="en-US" sz="3800" dirty="0"/>
          </a:p>
        </p:txBody>
      </p:sp>
      <p:sp>
        <p:nvSpPr>
          <p:cNvPr id="4" name="Guiado etiqueta"/>
          <p:cNvSpPr txBox="1"/>
          <p:nvPr/>
        </p:nvSpPr>
        <p:spPr>
          <a:xfrm>
            <a:off x="457200" y="1810512"/>
            <a:ext cx="2377440" cy="457200"/>
          </a:xfrm>
          <a:prstGeom prst="rect">
            <a:avLst/>
          </a:prstGeom>
          <a:noFill/>
          <a:ln/>
        </p:spPr>
        <p:txBody>
          <a:bodyPr wrap="square" lIns="0" tIns="0" rIns="0" bIns="0" rtlCol="0" anchor="t"/>
          <a:lstStyle/>
          <a:p>
            <a:pPr algn="l" indent="0" marL="0">
              <a:buNone/>
            </a:pPr>
            <a:r>
              <a:rPr lang="en-US" sz="1400" dirty="0">
                <a:solidFill>
                  <a:schemeClr val="tx1"/>
                </a:solidFill>
                <a:latin typeface="Calibri" pitchFamily="34" charset="0"/>
                <a:ea typeface="Calibri" pitchFamily="34" charset="-122"/>
                <a:cs typeface="Calibri" pitchFamily="34" charset="-120"/>
              </a:rPr>
              <a:t>ACO guiado: éxito y brecha de 0.00 % en 7560 corridas</a:t>
            </a:r>
            <a:endParaRPr lang="en-US" sz="1400" dirty="0"/>
          </a:p>
        </p:txBody>
      </p:sp>
      <p:sp>
        <p:nvSpPr>
          <p:cNvPr id="5" name="Tiempo cifra"/>
          <p:cNvSpPr txBox="1"/>
          <p:nvPr/>
        </p:nvSpPr>
        <p:spPr>
          <a:xfrm>
            <a:off x="457200" y="2331720"/>
            <a:ext cx="2377440" cy="685800"/>
          </a:xfrm>
          <a:prstGeom prst="rect">
            <a:avLst/>
          </a:prstGeom>
          <a:noFill/>
          <a:ln/>
        </p:spPr>
        <p:txBody>
          <a:bodyPr wrap="square" lIns="0" tIns="0" rIns="0" bIns="0" rtlCol="0" anchor="b"/>
          <a:lstStyle/>
          <a:p>
            <a:pPr algn="l" indent="0" marL="0">
              <a:buNone/>
            </a:pPr>
            <a:r>
              <a:rPr lang="en-US" sz="3800" b="1" dirty="0">
                <a:solidFill>
                  <a:schemeClr val="accent5"/>
                </a:solidFill>
                <a:latin typeface="Cambria" pitchFamily="34" charset="0"/>
                <a:ea typeface="Cambria" pitchFamily="34" charset="-122"/>
                <a:cs typeface="Cambria" pitchFamily="34" charset="-120"/>
              </a:rPr>
              <a:t>264×</a:t>
            </a:r>
            <a:endParaRPr lang="en-US" sz="3800" dirty="0"/>
          </a:p>
        </p:txBody>
      </p:sp>
      <p:sp>
        <p:nvSpPr>
          <p:cNvPr id="6" name="Tiempo etiqueta"/>
          <p:cNvSpPr txBox="1"/>
          <p:nvPr/>
        </p:nvSpPr>
        <p:spPr>
          <a:xfrm>
            <a:off x="457200" y="3044952"/>
            <a:ext cx="2377440" cy="457200"/>
          </a:xfrm>
          <a:prstGeom prst="rect">
            <a:avLst/>
          </a:prstGeom>
          <a:noFill/>
          <a:ln/>
        </p:spPr>
        <p:txBody>
          <a:bodyPr wrap="square" lIns="0" tIns="0" rIns="0" bIns="0" rtlCol="0" anchor="t"/>
          <a:lstStyle/>
          <a:p>
            <a:pPr algn="l" indent="0" marL="0">
              <a:buNone/>
            </a:pPr>
            <a:r>
              <a:rPr lang="en-US" sz="1400" dirty="0">
                <a:solidFill>
                  <a:schemeClr val="tx1"/>
                </a:solidFill>
                <a:latin typeface="Calibri" pitchFamily="34" charset="0"/>
                <a:ea typeface="Calibri" pitchFamily="34" charset="-122"/>
                <a:cs typeface="Calibri" pitchFamily="34" charset="-120"/>
              </a:rPr>
              <a:t>más lento que Dijkstra: 13 a 30 ms frente a menos de 0.1 ms</a:t>
            </a:r>
            <a:endParaRPr lang="en-US" sz="1400" dirty="0"/>
          </a:p>
        </p:txBody>
      </p:sp>
      <p:sp>
        <p:nvSpPr>
          <p:cNvPr id="7" name="Clasico cifra"/>
          <p:cNvSpPr txBox="1"/>
          <p:nvPr/>
        </p:nvSpPr>
        <p:spPr>
          <a:xfrm>
            <a:off x="457200" y="3566160"/>
            <a:ext cx="2377440" cy="685800"/>
          </a:xfrm>
          <a:prstGeom prst="rect">
            <a:avLst/>
          </a:prstGeom>
          <a:noFill/>
          <a:ln/>
        </p:spPr>
        <p:txBody>
          <a:bodyPr wrap="square" lIns="0" tIns="0" rIns="0" bIns="0" rtlCol="0" anchor="b"/>
          <a:lstStyle/>
          <a:p>
            <a:pPr algn="l" indent="0" marL="0">
              <a:buNone/>
            </a:pPr>
            <a:r>
              <a:rPr lang="en-US" sz="3800" b="1" dirty="0">
                <a:solidFill>
                  <a:schemeClr val="accent3"/>
                </a:solidFill>
                <a:latin typeface="Cambria" pitchFamily="34" charset="0"/>
                <a:ea typeface="Cambria" pitchFamily="34" charset="-122"/>
                <a:cs typeface="Cambria" pitchFamily="34" charset="-120"/>
              </a:rPr>
              <a:t>11 a 22 %</a:t>
            </a:r>
            <a:endParaRPr lang="en-US" sz="3800" dirty="0"/>
          </a:p>
        </p:txBody>
      </p:sp>
      <p:sp>
        <p:nvSpPr>
          <p:cNvPr id="8" name="Clasico etiqueta"/>
          <p:cNvSpPr txBox="1"/>
          <p:nvPr/>
        </p:nvSpPr>
        <p:spPr>
          <a:xfrm>
            <a:off x="457200" y="4279392"/>
            <a:ext cx="2377440" cy="457200"/>
          </a:xfrm>
          <a:prstGeom prst="rect">
            <a:avLst/>
          </a:prstGeom>
          <a:noFill/>
          <a:ln/>
        </p:spPr>
        <p:txBody>
          <a:bodyPr wrap="square" lIns="0" tIns="0" rIns="0" bIns="0" rtlCol="0" anchor="t"/>
          <a:lstStyle/>
          <a:p>
            <a:pPr algn="l" indent="0" marL="0">
              <a:buNone/>
            </a:pPr>
            <a:r>
              <a:rPr lang="en-US" sz="1400" dirty="0">
                <a:solidFill>
                  <a:schemeClr val="tx1"/>
                </a:solidFill>
                <a:latin typeface="Calibri" pitchFamily="34" charset="0"/>
                <a:ea typeface="Calibri" pitchFamily="34" charset="-122"/>
                <a:cs typeface="Calibri" pitchFamily="34" charset="-120"/>
              </a:rPr>
              <a:t>éxito del ACO clásico con β = 2</a:t>
            </a:r>
            <a:endParaRPr lang="en-US" sz="1400" dirty="0"/>
          </a:p>
        </p:txBody>
      </p:sp>
      <p:graphicFrame>
        <p:nvGraphicFramePr>
          <p:cNvPr id="9" name="Grafico exito" descr=""/>
          <p:cNvGraphicFramePr/>
          <p:nvPr/>
        </p:nvGraphicFramePr>
        <p:xfrm>
          <a:off x="3108960" y="1051560"/>
          <a:ext cx="5577840" cy="3566160"/>
        </p:xfrm>
        <a:graphic xmlns:a="http://schemas.openxmlformats.org/drawingml/2006/main">
          <a:graphicData uri="http://schemas.openxmlformats.org/drawingml/2006/chart">
            <c:chart xmlns:c="http://schemas.openxmlformats.org/drawingml/2006/chart" r:id="rId1"/>
          </a:graphicData>
        </a:graphic>
      </p:graphicFrame>
      <p:sp>
        <p:nvSpPr>
          <p:cNvPr id="10" name="Expositor"/>
          <p:cNvSpPr txBox="1"/>
          <p:nvPr/>
        </p:nvSpPr>
        <p:spPr>
          <a:xfrm>
            <a:off x="6309360" y="4828032"/>
            <a:ext cx="2011680" cy="228600"/>
          </a:xfrm>
          <a:prstGeom prst="rect">
            <a:avLst/>
          </a:prstGeom>
          <a:noFill/>
          <a:ln/>
        </p:spPr>
        <p:txBody>
          <a:bodyPr wrap="square" lIns="0" tIns="0" rIns="0" bIns="0" rtlCol="0" anchor="ctr"/>
          <a:lstStyle/>
          <a:p>
            <a:pPr algn="r" indent="0" marL="0">
              <a:buNone/>
            </a:pPr>
            <a:r>
              <a:rPr lang="en-US" sz="1000" dirty="0">
                <a:solidFill>
                  <a:schemeClr val="accent6"/>
                </a:solidFill>
                <a:latin typeface="Calibri" pitchFamily="34" charset="0"/>
                <a:ea typeface="Calibri" pitchFamily="34" charset="-122"/>
                <a:cs typeface="Calibri" pitchFamily="34" charset="-120"/>
              </a:rPr>
              <a:t>Erika</a:t>
            </a:r>
            <a:endParaRPr lang="en-US" sz="1000" dirty="0"/>
          </a:p>
        </p:txBody>
      </p:sp>
      <p:sp>
        <p:nvSpPr>
          <p:cNvPr id="25" name="Slide Number Placeholder 0"/>
          <p:cNvSpPr>
            <a:spLocks noGrp="1"/>
          </p:cNvSpPr>
          <p:nvPr>
            <p:ph type="sldNum" sz="quarter" idx="4294967295"/>
          </p:nvPr>
        </p:nvSpPr>
        <p:spPr>
          <a:xfrm>
            <a:off x="8412480" y="4828032"/>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latin typeface="Calibri"/>
                <a:ea typeface="Calibri"/>
                <a:cs typeface="Calibri"/>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ítulo"/>
          <p:cNvSpPr txBox="1"/>
          <p:nvPr/>
        </p:nvSpPr>
        <p:spPr>
          <a:xfrm>
            <a:off x="457200" y="256032"/>
            <a:ext cx="8229600" cy="731520"/>
          </a:xfrm>
          <a:prstGeom prst="rect">
            <a:avLst/>
          </a:prstGeom>
          <a:noFill/>
          <a:ln/>
        </p:spPr>
        <p:txBody>
          <a:bodyPr wrap="square" lIns="0" tIns="0" rIns="0" bIns="0" rtlCol="0" anchor="ctr"/>
          <a:lstStyle/>
          <a:p>
            <a:pPr algn="l" indent="0" marL="0">
              <a:buNone/>
            </a:pPr>
            <a:r>
              <a:rPr lang="en-US" sz="3000" b="1" dirty="0">
                <a:solidFill>
                  <a:schemeClr val="tx2"/>
                </a:solidFill>
                <a:latin typeface="Cambria" pitchFamily="34" charset="0"/>
                <a:ea typeface="Cambria" pitchFamily="34" charset="-122"/>
                <a:cs typeface="Cambria" pitchFamily="34" charset="-120"/>
              </a:rPr>
              <a:t>La feromona casi no interviene</a:t>
            </a:r>
            <a:endParaRPr lang="en-US" sz="3000" dirty="0"/>
          </a:p>
        </p:txBody>
      </p:sp>
      <p:pic>
        <p:nvPicPr>
          <p:cNvPr id="3" name="Animacion feromonas" descr="Animación de la evolución de la feromona y de la mejor ruta de ACO clásico desde H403">    </p:cNvPr>
          <p:cNvPicPr>
            <a:picLocks noChangeAspect="1"/>
          </p:cNvPicPr>
          <p:nvPr/>
        </p:nvPicPr>
        <p:blipFill>
          <a:blip r:embed="rId1"/>
          <a:stretch>
            <a:fillRect/>
          </a:stretch>
        </p:blipFill>
        <p:spPr>
          <a:xfrm>
            <a:off x="457200" y="1154704"/>
            <a:ext cx="4846320" cy="2171151"/>
          </a:xfrm>
          <a:prstGeom prst="rect">
            <a:avLst/>
          </a:prstGeom>
        </p:spPr>
      </p:pic>
      <p:sp>
        <p:nvSpPr>
          <p:cNvPr id="4" name="Pie animacion"/>
          <p:cNvSpPr txBox="1"/>
          <p:nvPr/>
        </p:nvSpPr>
        <p:spPr>
          <a:xfrm>
            <a:off x="457200" y="3383280"/>
            <a:ext cx="4846320" cy="502920"/>
          </a:xfrm>
          <a:prstGeom prst="rect">
            <a:avLst/>
          </a:prstGeom>
          <a:noFill/>
          <a:ln/>
        </p:spPr>
        <p:txBody>
          <a:bodyPr wrap="square" lIns="0" tIns="0" rIns="0" bIns="0" rtlCol="0" anchor="ctr"/>
          <a:lstStyle/>
          <a:p>
            <a:pPr indent="0" marL="0">
              <a:buNone/>
            </a:pPr>
            <a:r>
              <a:rPr lang="en-US" sz="1400" i="1" dirty="0">
                <a:solidFill>
                  <a:schemeClr val="accent6"/>
                </a:solidFill>
                <a:latin typeface="Calibri" pitchFamily="34" charset="0"/>
                <a:ea typeface="Calibri" pitchFamily="34" charset="-122"/>
                <a:cs typeface="Calibri" pitchFamily="34" charset="-120"/>
              </a:rPr>
              <a:t>ACO clásico desde H403: casi toda la red queda en la feromona mínima</a:t>
            </a:r>
            <a:endParaRPr lang="en-US" sz="1400" dirty="0"/>
          </a:p>
        </p:txBody>
      </p:sp>
      <p:sp>
        <p:nvSpPr>
          <p:cNvPr id="5" name="Tarjeta β manda"/>
          <p:cNvSpPr/>
          <p:nvPr/>
        </p:nvSpPr>
        <p:spPr>
          <a:xfrm>
            <a:off x="5577840" y="1143000"/>
            <a:ext cx="3108960" cy="960120"/>
          </a:xfrm>
          <a:prstGeom prst="roundRect">
            <a:avLst>
              <a:gd name="adj" fmla="val 7619"/>
            </a:avLst>
          </a:prstGeom>
          <a:solidFill>
            <a:schemeClr val="bg2"/>
          </a:solidFill>
          <a:ln w="12700">
            <a:solidFill>
              <a:schemeClr val="bg2"/>
            </a:solidFill>
            <a:prstDash val="solid"/>
          </a:ln>
        </p:spPr>
      </p:sp>
      <p:sp>
        <p:nvSpPr>
          <p:cNvPr id="6" name="Texto β manda"/>
          <p:cNvSpPr txBox="1"/>
          <p:nvPr/>
        </p:nvSpPr>
        <p:spPr>
          <a:xfrm>
            <a:off x="5715000" y="1188720"/>
            <a:ext cx="2834640" cy="868680"/>
          </a:xfrm>
          <a:prstGeom prst="rect">
            <a:avLst/>
          </a:prstGeom>
          <a:noFill/>
          <a:ln/>
        </p:spPr>
        <p:txBody>
          <a:bodyPr wrap="square" lIns="0" tIns="0" rIns="0" bIns="0" rtlCol="0" anchor="ctr"/>
          <a:lstStyle/>
          <a:p>
            <a:pPr indent="0" marL="0">
              <a:buNone/>
            </a:pPr>
            <a:r>
              <a:rPr lang="en-US" sz="1600" b="1" dirty="0">
                <a:solidFill>
                  <a:schemeClr val="accent1"/>
                </a:solidFill>
                <a:latin typeface="Calibri" pitchFamily="34" charset="0"/>
                <a:ea typeface="Calibri" pitchFamily="34" charset="-122"/>
                <a:cs typeface="Calibri" pitchFamily="34" charset="-120"/>
              </a:rPr>
              <a:t>β manda</a:t>
            </a:r>
            <a:endParaRPr lang="en-US" sz="1600" dirty="0"/>
          </a:p>
          <a:p>
            <a:pPr indent="0" marL="0">
              <a:buNone/>
            </a:pPr>
            <a:r>
              <a:rPr lang="en-US" sz="1400" dirty="0">
                <a:solidFill>
                  <a:schemeClr val="tx1"/>
                </a:solidFill>
                <a:latin typeface="Calibri" pitchFamily="34" charset="0"/>
                <a:ea typeface="Calibri" pitchFamily="34" charset="-122"/>
                <a:cs typeface="Calibri" pitchFamily="34" charset="-120"/>
              </a:rPr>
              <a:t>β = 0: 99 % de éxito; β = 2: 34 %</a:t>
            </a:r>
            <a:endParaRPr lang="en-US" sz="1600" dirty="0"/>
          </a:p>
        </p:txBody>
      </p:sp>
      <p:sp>
        <p:nvSpPr>
          <p:cNvPr id="7" name="Tarjeta α y ρ no cambian nada"/>
          <p:cNvSpPr/>
          <p:nvPr/>
        </p:nvSpPr>
        <p:spPr>
          <a:xfrm>
            <a:off x="5577840" y="2240280"/>
            <a:ext cx="3108960" cy="960120"/>
          </a:xfrm>
          <a:prstGeom prst="roundRect">
            <a:avLst>
              <a:gd name="adj" fmla="val 7619"/>
            </a:avLst>
          </a:prstGeom>
          <a:solidFill>
            <a:schemeClr val="bg2"/>
          </a:solidFill>
          <a:ln w="12700">
            <a:solidFill>
              <a:schemeClr val="bg2"/>
            </a:solidFill>
            <a:prstDash val="solid"/>
          </a:ln>
        </p:spPr>
      </p:sp>
      <p:sp>
        <p:nvSpPr>
          <p:cNvPr id="8" name="Texto α y ρ no cambian nada"/>
          <p:cNvSpPr txBox="1"/>
          <p:nvPr/>
        </p:nvSpPr>
        <p:spPr>
          <a:xfrm>
            <a:off x="5715000" y="2286000"/>
            <a:ext cx="2834640" cy="868680"/>
          </a:xfrm>
          <a:prstGeom prst="rect">
            <a:avLst/>
          </a:prstGeom>
          <a:noFill/>
          <a:ln/>
        </p:spPr>
        <p:txBody>
          <a:bodyPr wrap="square" lIns="0" tIns="0" rIns="0" bIns="0" rtlCol="0" anchor="ctr"/>
          <a:lstStyle/>
          <a:p>
            <a:pPr indent="0" marL="0">
              <a:buNone/>
            </a:pPr>
            <a:r>
              <a:rPr lang="en-US" sz="1600" b="1" dirty="0">
                <a:solidFill>
                  <a:schemeClr val="accent1"/>
                </a:solidFill>
                <a:latin typeface="Calibri" pitchFamily="34" charset="0"/>
                <a:ea typeface="Calibri" pitchFamily="34" charset="-122"/>
                <a:cs typeface="Calibri" pitchFamily="34" charset="-120"/>
              </a:rPr>
              <a:t>α y ρ no cambian nada</a:t>
            </a:r>
            <a:endParaRPr lang="en-US" sz="1600" dirty="0"/>
          </a:p>
          <a:p>
            <a:pPr indent="0" marL="0">
              <a:buNone/>
            </a:pPr>
            <a:r>
              <a:rPr lang="en-US" sz="1400" dirty="0">
                <a:solidFill>
                  <a:schemeClr val="tx1"/>
                </a:solidFill>
                <a:latin typeface="Calibri" pitchFamily="34" charset="0"/>
                <a:ea typeface="Calibri" pitchFamily="34" charset="-122"/>
                <a:cs typeface="Calibri" pitchFamily="34" charset="-120"/>
              </a:rPr>
              <a:t>éxito de 34.3 % en todos los valores</a:t>
            </a:r>
            <a:endParaRPr lang="en-US" sz="1600" dirty="0"/>
          </a:p>
        </p:txBody>
      </p:sp>
      <p:sp>
        <p:nvSpPr>
          <p:cNvPr id="9" name="Tarjeta Warm start sin ventaja"/>
          <p:cNvSpPr/>
          <p:nvPr/>
        </p:nvSpPr>
        <p:spPr>
          <a:xfrm>
            <a:off x="5577840" y="3337560"/>
            <a:ext cx="3108960" cy="960120"/>
          </a:xfrm>
          <a:prstGeom prst="roundRect">
            <a:avLst>
              <a:gd name="adj" fmla="val 7619"/>
            </a:avLst>
          </a:prstGeom>
          <a:solidFill>
            <a:schemeClr val="bg2"/>
          </a:solidFill>
          <a:ln w="12700">
            <a:solidFill>
              <a:schemeClr val="bg2"/>
            </a:solidFill>
            <a:prstDash val="solid"/>
          </a:ln>
        </p:spPr>
      </p:sp>
      <p:sp>
        <p:nvSpPr>
          <p:cNvPr id="10" name="Texto Warm start sin ventaja"/>
          <p:cNvSpPr txBox="1"/>
          <p:nvPr/>
        </p:nvSpPr>
        <p:spPr>
          <a:xfrm>
            <a:off x="5715000" y="3383280"/>
            <a:ext cx="2834640" cy="868680"/>
          </a:xfrm>
          <a:prstGeom prst="rect">
            <a:avLst/>
          </a:prstGeom>
          <a:noFill/>
          <a:ln/>
        </p:spPr>
        <p:txBody>
          <a:bodyPr wrap="square" lIns="0" tIns="0" rIns="0" bIns="0" rtlCol="0" anchor="ctr"/>
          <a:lstStyle/>
          <a:p>
            <a:pPr indent="0" marL="0">
              <a:buNone/>
            </a:pPr>
            <a:r>
              <a:rPr lang="en-US" sz="1600" b="1" dirty="0">
                <a:solidFill>
                  <a:schemeClr val="accent1"/>
                </a:solidFill>
                <a:latin typeface="Calibri" pitchFamily="34" charset="0"/>
                <a:ea typeface="Calibri" pitchFamily="34" charset="-122"/>
                <a:cs typeface="Calibri" pitchFamily="34" charset="-120"/>
              </a:rPr>
              <a:t>Warm start sin ventaja</a:t>
            </a:r>
            <a:endParaRPr lang="en-US" sz="1600" dirty="0"/>
          </a:p>
          <a:p>
            <a:pPr indent="0" marL="0">
              <a:buNone/>
            </a:pPr>
            <a:r>
              <a:rPr lang="en-US" sz="1400" dirty="0">
                <a:solidFill>
                  <a:schemeClr val="tx1"/>
                </a:solidFill>
                <a:latin typeface="Calibri" pitchFamily="34" charset="0"/>
                <a:ea typeface="Calibri" pitchFamily="34" charset="-122"/>
                <a:cs typeface="Calibri" pitchFamily="34" charset="-120"/>
              </a:rPr>
              <a:t>y empeora en Salida B bloqueada</a:t>
            </a:r>
            <a:endParaRPr lang="en-US" sz="1600" dirty="0"/>
          </a:p>
        </p:txBody>
      </p:sp>
      <p:sp>
        <p:nvSpPr>
          <p:cNvPr id="11" name="Dato Q"/>
          <p:cNvSpPr txBox="1"/>
          <p:nvPr/>
        </p:nvSpPr>
        <p:spPr>
          <a:xfrm>
            <a:off x="457200" y="3977640"/>
            <a:ext cx="4846320" cy="731520"/>
          </a:xfrm>
          <a:prstGeom prst="rect">
            <a:avLst/>
          </a:prstGeom>
          <a:noFill/>
          <a:ln/>
        </p:spPr>
        <p:txBody>
          <a:bodyPr wrap="square" lIns="0" tIns="0" rIns="0" bIns="0" rtlCol="0" anchor="t"/>
          <a:lstStyle/>
          <a:p>
            <a:pPr indent="0" marL="0">
              <a:buNone/>
            </a:pPr>
            <a:r>
              <a:rPr lang="en-US" sz="1500" b="1" dirty="0">
                <a:solidFill>
                  <a:schemeClr val="tx2"/>
                </a:solidFill>
                <a:latin typeface="Calibri" pitchFamily="34" charset="0"/>
                <a:ea typeface="Calibri" pitchFamily="34" charset="-122"/>
                <a:cs typeface="Calibri" pitchFamily="34" charset="-120"/>
              </a:rPr>
              <a:t>Con un depósito de feromona mayor (Q) la feromona sí interviene, pero empeora la brecha: de 1.9 % a 16 %.</a:t>
            </a:r>
            <a:endParaRPr lang="en-US" sz="1500" dirty="0"/>
          </a:p>
        </p:txBody>
      </p:sp>
      <p:sp>
        <p:nvSpPr>
          <p:cNvPr id="12" name="Expositor"/>
          <p:cNvSpPr txBox="1"/>
          <p:nvPr/>
        </p:nvSpPr>
        <p:spPr>
          <a:xfrm>
            <a:off x="6309360" y="4828032"/>
            <a:ext cx="2011680" cy="228600"/>
          </a:xfrm>
          <a:prstGeom prst="rect">
            <a:avLst/>
          </a:prstGeom>
          <a:noFill/>
          <a:ln/>
        </p:spPr>
        <p:txBody>
          <a:bodyPr wrap="square" lIns="0" tIns="0" rIns="0" bIns="0" rtlCol="0" anchor="ctr"/>
          <a:lstStyle/>
          <a:p>
            <a:pPr algn="r" indent="0" marL="0">
              <a:buNone/>
            </a:pPr>
            <a:r>
              <a:rPr lang="en-US" sz="1000" dirty="0">
                <a:solidFill>
                  <a:schemeClr val="accent6"/>
                </a:solidFill>
                <a:latin typeface="Calibri" pitchFamily="34" charset="0"/>
                <a:ea typeface="Calibri" pitchFamily="34" charset="-122"/>
                <a:cs typeface="Calibri" pitchFamily="34" charset="-120"/>
              </a:rPr>
              <a:t>Alejandro</a:t>
            </a:r>
            <a:endParaRPr lang="en-US" sz="1000" dirty="0"/>
          </a:p>
        </p:txBody>
      </p:sp>
      <p:sp>
        <p:nvSpPr>
          <p:cNvPr id="25" name="Slide Number Placeholder 0"/>
          <p:cNvSpPr>
            <a:spLocks noGrp="1"/>
          </p:cNvSpPr>
          <p:nvPr>
            <p:ph type="sldNum" sz="quarter" idx="4294967295"/>
          </p:nvPr>
        </p:nvSpPr>
        <p:spPr>
          <a:xfrm>
            <a:off x="8412480" y="4828032"/>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latin typeface="Calibri"/>
                <a:ea typeface="Calibri"/>
                <a:cs typeface="Calibri"/>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ítulo"/>
          <p:cNvSpPr txBox="1"/>
          <p:nvPr/>
        </p:nvSpPr>
        <p:spPr>
          <a:xfrm>
            <a:off x="457200" y="256032"/>
            <a:ext cx="8229600" cy="731520"/>
          </a:xfrm>
          <a:prstGeom prst="rect">
            <a:avLst/>
          </a:prstGeom>
          <a:noFill/>
          <a:ln/>
        </p:spPr>
        <p:txBody>
          <a:bodyPr wrap="square" lIns="0" tIns="0" rIns="0" bIns="0" rtlCol="0" anchor="ctr"/>
          <a:lstStyle/>
          <a:p>
            <a:pPr algn="l" indent="0" marL="0">
              <a:buNone/>
            </a:pPr>
            <a:r>
              <a:rPr lang="en-US" sz="3000" b="1" dirty="0">
                <a:solidFill>
                  <a:schemeClr val="tx2"/>
                </a:solidFill>
                <a:latin typeface="Cambria" pitchFamily="34" charset="0"/>
                <a:ea typeface="Cambria" pitchFamily="34" charset="-122"/>
                <a:cs typeface="Cambria" pitchFamily="34" charset="-120"/>
              </a:rPr>
              <a:t>Evacuación de 1020 personas</a:t>
            </a:r>
            <a:endParaRPr lang="en-US" sz="3000" dirty="0"/>
          </a:p>
        </p:txBody>
      </p:sp>
      <p:pic>
        <p:nvPicPr>
          <p:cNvPr id="3" name="Animacion evacuacion" descr="Animación de la evacuación de 1020 personas por las rutas de Dijkstra sobre el plano calibrado">    </p:cNvPr>
          <p:cNvPicPr>
            <a:picLocks noChangeAspect="1"/>
          </p:cNvPicPr>
          <p:nvPr/>
        </p:nvPicPr>
        <p:blipFill>
          <a:blip r:embed="rId1"/>
          <a:stretch>
            <a:fillRect/>
          </a:stretch>
        </p:blipFill>
        <p:spPr>
          <a:xfrm>
            <a:off x="457200" y="1143000"/>
            <a:ext cx="4206240" cy="3383280"/>
          </a:xfrm>
          <a:prstGeom prst="rect">
            <a:avLst/>
          </a:prstGeom>
        </p:spPr>
      </p:pic>
      <p:sp>
        <p:nvSpPr>
          <p:cNvPr id="4" name="Primera cifra"/>
          <p:cNvSpPr txBox="1"/>
          <p:nvPr/>
        </p:nvSpPr>
        <p:spPr>
          <a:xfrm>
            <a:off x="5029200" y="1097280"/>
            <a:ext cx="3657600" cy="685800"/>
          </a:xfrm>
          <a:prstGeom prst="rect">
            <a:avLst/>
          </a:prstGeom>
          <a:noFill/>
          <a:ln/>
        </p:spPr>
        <p:txBody>
          <a:bodyPr wrap="square" lIns="0" tIns="0" rIns="0" bIns="0" rtlCol="0" anchor="b"/>
          <a:lstStyle/>
          <a:p>
            <a:pPr algn="l" indent="0" marL="0">
              <a:buNone/>
            </a:pPr>
            <a:r>
              <a:rPr lang="en-US" sz="3800" b="1" dirty="0">
                <a:solidFill>
                  <a:schemeClr val="accent1"/>
                </a:solidFill>
                <a:latin typeface="Cambria" pitchFamily="34" charset="0"/>
                <a:ea typeface="Cambria" pitchFamily="34" charset="-122"/>
                <a:cs typeface="Cambria" pitchFamily="34" charset="-120"/>
              </a:rPr>
              <a:t>194 s</a:t>
            </a:r>
            <a:endParaRPr lang="en-US" sz="3800" dirty="0"/>
          </a:p>
        </p:txBody>
      </p:sp>
      <p:sp>
        <p:nvSpPr>
          <p:cNvPr id="5" name="Primera etiqueta"/>
          <p:cNvSpPr txBox="1"/>
          <p:nvPr/>
        </p:nvSpPr>
        <p:spPr>
          <a:xfrm>
            <a:off x="5029200" y="1810512"/>
            <a:ext cx="3657600" cy="457200"/>
          </a:xfrm>
          <a:prstGeom prst="rect">
            <a:avLst/>
          </a:prstGeom>
          <a:noFill/>
          <a:ln/>
        </p:spPr>
        <p:txBody>
          <a:bodyPr wrap="square" lIns="0" tIns="0" rIns="0" bIns="0" rtlCol="0" anchor="t"/>
          <a:lstStyle/>
          <a:p>
            <a:pPr algn="l" indent="0" marL="0">
              <a:buNone/>
            </a:pPr>
            <a:r>
              <a:rPr lang="en-US" sz="1400" dirty="0">
                <a:solidFill>
                  <a:schemeClr val="tx1"/>
                </a:solidFill>
                <a:latin typeface="Calibri" pitchFamily="34" charset="0"/>
                <a:ea typeface="Calibri" pitchFamily="34" charset="-122"/>
                <a:cs typeface="Calibri" pitchFamily="34" charset="-120"/>
              </a:rPr>
              <a:t>llega la primera persona (rutas óptimas, escenario Normal)</a:t>
            </a:r>
            <a:endParaRPr lang="en-US" sz="1400" dirty="0"/>
          </a:p>
        </p:txBody>
      </p:sp>
      <p:sp>
        <p:nvSpPr>
          <p:cNvPr id="6" name="Ultima cifra"/>
          <p:cNvSpPr txBox="1"/>
          <p:nvPr/>
        </p:nvSpPr>
        <p:spPr>
          <a:xfrm>
            <a:off x="5029200" y="2286000"/>
            <a:ext cx="3657600" cy="685800"/>
          </a:xfrm>
          <a:prstGeom prst="rect">
            <a:avLst/>
          </a:prstGeom>
          <a:noFill/>
          <a:ln/>
        </p:spPr>
        <p:txBody>
          <a:bodyPr wrap="square" lIns="0" tIns="0" rIns="0" bIns="0" rtlCol="0" anchor="b"/>
          <a:lstStyle/>
          <a:p>
            <a:pPr algn="l" indent="0" marL="0">
              <a:buNone/>
            </a:pPr>
            <a:r>
              <a:rPr lang="en-US" sz="3800" b="1" dirty="0">
                <a:solidFill>
                  <a:schemeClr val="accent3"/>
                </a:solidFill>
                <a:latin typeface="Cambria" pitchFamily="34" charset="0"/>
                <a:ea typeface="Cambria" pitchFamily="34" charset="-122"/>
                <a:cs typeface="Cambria" pitchFamily="34" charset="-120"/>
              </a:rPr>
              <a:t>272 s</a:t>
            </a:r>
            <a:endParaRPr lang="en-US" sz="3800" dirty="0"/>
          </a:p>
        </p:txBody>
      </p:sp>
      <p:sp>
        <p:nvSpPr>
          <p:cNvPr id="7" name="Ultima etiqueta"/>
          <p:cNvSpPr txBox="1"/>
          <p:nvPr/>
        </p:nvSpPr>
        <p:spPr>
          <a:xfrm>
            <a:off x="5029200" y="2999232"/>
            <a:ext cx="3657600" cy="457200"/>
          </a:xfrm>
          <a:prstGeom prst="rect">
            <a:avLst/>
          </a:prstGeom>
          <a:noFill/>
          <a:ln/>
        </p:spPr>
        <p:txBody>
          <a:bodyPr wrap="square" lIns="0" tIns="0" rIns="0" bIns="0" rtlCol="0" anchor="t"/>
          <a:lstStyle/>
          <a:p>
            <a:pPr algn="l" indent="0" marL="0">
              <a:buNone/>
            </a:pPr>
            <a:r>
              <a:rPr lang="en-US" sz="1400" dirty="0">
                <a:solidFill>
                  <a:schemeClr val="tx1"/>
                </a:solidFill>
                <a:latin typeface="Calibri" pitchFamily="34" charset="0"/>
                <a:ea typeface="Calibri" pitchFamily="34" charset="-122"/>
                <a:cs typeface="Calibri" pitchFamily="34" charset="-120"/>
              </a:rPr>
              <a:t>llega la última persona</a:t>
            </a:r>
            <a:endParaRPr lang="en-US" sz="1400" dirty="0"/>
          </a:p>
        </p:txBody>
      </p:sp>
      <p:sp>
        <p:nvSpPr>
          <p:cNvPr id="8" name="Bloqueo cifra"/>
          <p:cNvSpPr txBox="1"/>
          <p:nvPr/>
        </p:nvSpPr>
        <p:spPr>
          <a:xfrm>
            <a:off x="5029200" y="3474720"/>
            <a:ext cx="3657600" cy="685800"/>
          </a:xfrm>
          <a:prstGeom prst="rect">
            <a:avLst/>
          </a:prstGeom>
          <a:noFill/>
          <a:ln/>
        </p:spPr>
        <p:txBody>
          <a:bodyPr wrap="square" lIns="0" tIns="0" rIns="0" bIns="0" rtlCol="0" anchor="b"/>
          <a:lstStyle/>
          <a:p>
            <a:pPr algn="l" indent="0" marL="0">
              <a:buNone/>
            </a:pPr>
            <a:r>
              <a:rPr lang="en-US" sz="3800" b="1" dirty="0">
                <a:solidFill>
                  <a:schemeClr val="accent5"/>
                </a:solidFill>
                <a:latin typeface="Cambria" pitchFamily="34" charset="0"/>
                <a:ea typeface="Cambria" pitchFamily="34" charset="-122"/>
                <a:cs typeface="Cambria" pitchFamily="34" charset="-120"/>
              </a:rPr>
              <a:t>+39 s</a:t>
            </a:r>
            <a:endParaRPr lang="en-US" sz="3800" dirty="0"/>
          </a:p>
        </p:txBody>
      </p:sp>
      <p:sp>
        <p:nvSpPr>
          <p:cNvPr id="9" name="Bloqueo etiqueta"/>
          <p:cNvSpPr txBox="1"/>
          <p:nvPr/>
        </p:nvSpPr>
        <p:spPr>
          <a:xfrm>
            <a:off x="5029200" y="4187952"/>
            <a:ext cx="3657600" cy="457200"/>
          </a:xfrm>
          <a:prstGeom prst="rect">
            <a:avLst/>
          </a:prstGeom>
          <a:noFill/>
          <a:ln/>
        </p:spPr>
        <p:txBody>
          <a:bodyPr wrap="square" lIns="0" tIns="0" rIns="0" bIns="0" rtlCol="0" anchor="t"/>
          <a:lstStyle/>
          <a:p>
            <a:pPr algn="l" indent="0" marL="0">
              <a:buNone/>
            </a:pPr>
            <a:r>
              <a:rPr lang="en-US" sz="1400" dirty="0">
                <a:solidFill>
                  <a:schemeClr val="tx1"/>
                </a:solidFill>
                <a:latin typeface="Calibri" pitchFamily="34" charset="0"/>
                <a:ea typeface="Calibri" pitchFamily="34" charset="-122"/>
                <a:cs typeface="Calibri" pitchFamily="34" charset="-120"/>
              </a:rPr>
              <a:t>si se bloquean las gradas norte o la Salida B (311 s la última)</a:t>
            </a:r>
            <a:endParaRPr lang="en-US" sz="1400" dirty="0"/>
          </a:p>
        </p:txBody>
      </p:sp>
      <p:sp>
        <p:nvSpPr>
          <p:cNvPr id="10" name="Expositor"/>
          <p:cNvSpPr txBox="1"/>
          <p:nvPr/>
        </p:nvSpPr>
        <p:spPr>
          <a:xfrm>
            <a:off x="6309360" y="4828032"/>
            <a:ext cx="2011680" cy="228600"/>
          </a:xfrm>
          <a:prstGeom prst="rect">
            <a:avLst/>
          </a:prstGeom>
          <a:noFill/>
          <a:ln/>
        </p:spPr>
        <p:txBody>
          <a:bodyPr wrap="square" lIns="0" tIns="0" rIns="0" bIns="0" rtlCol="0" anchor="ctr"/>
          <a:lstStyle/>
          <a:p>
            <a:pPr algn="r" indent="0" marL="0">
              <a:buNone/>
            </a:pPr>
            <a:r>
              <a:rPr lang="en-US" sz="1000" dirty="0">
                <a:solidFill>
                  <a:schemeClr val="accent6"/>
                </a:solidFill>
                <a:latin typeface="Calibri" pitchFamily="34" charset="0"/>
                <a:ea typeface="Calibri" pitchFamily="34" charset="-122"/>
                <a:cs typeface="Calibri" pitchFamily="34" charset="-120"/>
              </a:rPr>
              <a:t>Alejandro</a:t>
            </a:r>
            <a:endParaRPr lang="en-US" sz="1000" dirty="0"/>
          </a:p>
        </p:txBody>
      </p:sp>
      <p:sp>
        <p:nvSpPr>
          <p:cNvPr id="25" name="Slide Number Placeholder 0"/>
          <p:cNvSpPr>
            <a:spLocks noGrp="1"/>
          </p:cNvSpPr>
          <p:nvPr>
            <p:ph type="sldNum" sz="quarter" idx="4294967295"/>
          </p:nvPr>
        </p:nvSpPr>
        <p:spPr>
          <a:xfrm>
            <a:off x="8412480" y="4828032"/>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latin typeface="Calibri"/>
                <a:ea typeface="Calibri"/>
                <a:cs typeface="Calibri"/>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ítulo"/>
          <p:cNvSpPr txBox="1"/>
          <p:nvPr/>
        </p:nvSpPr>
        <p:spPr>
          <a:xfrm>
            <a:off x="457200" y="256032"/>
            <a:ext cx="8229600" cy="731520"/>
          </a:xfrm>
          <a:prstGeom prst="rect">
            <a:avLst/>
          </a:prstGeom>
          <a:noFill/>
          <a:ln/>
        </p:spPr>
        <p:txBody>
          <a:bodyPr wrap="square" lIns="0" tIns="0" rIns="0" bIns="0" rtlCol="0" anchor="ctr"/>
          <a:lstStyle/>
          <a:p>
            <a:pPr algn="l" indent="0" marL="0">
              <a:buNone/>
            </a:pPr>
            <a:r>
              <a:rPr lang="en-US" sz="3000" b="1" dirty="0">
                <a:solidFill>
                  <a:schemeClr val="bg1"/>
                </a:solidFill>
                <a:latin typeface="Cambria" pitchFamily="34" charset="0"/>
                <a:ea typeface="Cambria" pitchFamily="34" charset="-122"/>
                <a:cs typeface="Cambria" pitchFamily="34" charset="-120"/>
              </a:rPr>
              <a:t>Conclusiones</a:t>
            </a:r>
            <a:endParaRPr lang="en-US" sz="3000" dirty="0"/>
          </a:p>
        </p:txBody>
      </p:sp>
      <p:sp>
        <p:nvSpPr>
          <p:cNvPr id="3" name="Numero 1"/>
          <p:cNvSpPr/>
          <p:nvPr/>
        </p:nvSpPr>
        <p:spPr>
          <a:xfrm>
            <a:off x="457200" y="1280160"/>
            <a:ext cx="731520" cy="731520"/>
          </a:xfrm>
          <a:prstGeom prst="ellipse">
            <a:avLst/>
          </a:prstGeom>
          <a:solidFill>
            <a:schemeClr val="accent2"/>
          </a:solidFill>
          <a:ln w="12700">
            <a:solidFill>
              <a:schemeClr val="accent2"/>
            </a:solidFill>
            <a:prstDash val="solid"/>
          </a:ln>
        </p:spPr>
      </p:sp>
      <p:sp>
        <p:nvSpPr>
          <p:cNvPr id="4" name="Cifra 1"/>
          <p:cNvSpPr txBox="1"/>
          <p:nvPr/>
        </p:nvSpPr>
        <p:spPr>
          <a:xfrm>
            <a:off x="457200" y="1280160"/>
            <a:ext cx="731520" cy="731520"/>
          </a:xfrm>
          <a:prstGeom prst="rect">
            <a:avLst/>
          </a:prstGeom>
          <a:noFill/>
          <a:ln/>
        </p:spPr>
        <p:txBody>
          <a:bodyPr wrap="square" lIns="0" tIns="0" rIns="0" bIns="0" rtlCol="0" anchor="ctr"/>
          <a:lstStyle/>
          <a:p>
            <a:pPr algn="ctr" indent="0" marL="0">
              <a:buNone/>
            </a:pPr>
            <a:r>
              <a:rPr lang="en-US" sz="2800" b="1" dirty="0">
                <a:solidFill>
                  <a:schemeClr val="tx2"/>
                </a:solidFill>
                <a:latin typeface="Cambria" pitchFamily="34" charset="0"/>
                <a:ea typeface="Cambria" pitchFamily="34" charset="-122"/>
                <a:cs typeface="Cambria" pitchFamily="34" charset="-120"/>
              </a:rPr>
              <a:t>1</a:t>
            </a:r>
            <a:endParaRPr lang="en-US" sz="2800" dirty="0"/>
          </a:p>
        </p:txBody>
      </p:sp>
      <p:sp>
        <p:nvSpPr>
          <p:cNvPr id="5" name="Conclusion 1"/>
          <p:cNvSpPr txBox="1"/>
          <p:nvPr/>
        </p:nvSpPr>
        <p:spPr>
          <a:xfrm>
            <a:off x="1463040" y="1234440"/>
            <a:ext cx="7223760" cy="822960"/>
          </a:xfrm>
          <a:prstGeom prst="rect">
            <a:avLst/>
          </a:prstGeom>
          <a:noFill/>
          <a:ln/>
        </p:spPr>
        <p:txBody>
          <a:bodyPr wrap="square" lIns="0" tIns="0" rIns="0" bIns="0" rtlCol="0" anchor="ctr"/>
          <a:lstStyle/>
          <a:p>
            <a:pPr indent="0" marL="0">
              <a:buNone/>
            </a:pPr>
            <a:r>
              <a:rPr lang="en-US" sz="2000" dirty="0">
                <a:solidFill>
                  <a:schemeClr val="bg1"/>
                </a:solidFill>
                <a:latin typeface="Calibri" pitchFamily="34" charset="0"/>
                <a:ea typeface="Calibri" pitchFamily="34" charset="-122"/>
                <a:cs typeface="Calibri" pitchFamily="34" charset="-120"/>
              </a:rPr>
              <a:t>ACO guiado siempre halla el óptimo, pero por la poda y el retroceso, no por las feromonas</a:t>
            </a:r>
            <a:endParaRPr lang="en-US" sz="2000" dirty="0"/>
          </a:p>
        </p:txBody>
      </p:sp>
      <p:sp>
        <p:nvSpPr>
          <p:cNvPr id="6" name="Numero 2"/>
          <p:cNvSpPr/>
          <p:nvPr/>
        </p:nvSpPr>
        <p:spPr>
          <a:xfrm>
            <a:off x="457200" y="2377440"/>
            <a:ext cx="731520" cy="731520"/>
          </a:xfrm>
          <a:prstGeom prst="ellipse">
            <a:avLst/>
          </a:prstGeom>
          <a:solidFill>
            <a:schemeClr val="accent2"/>
          </a:solidFill>
          <a:ln w="12700">
            <a:solidFill>
              <a:schemeClr val="accent2"/>
            </a:solidFill>
            <a:prstDash val="solid"/>
          </a:ln>
        </p:spPr>
      </p:sp>
      <p:sp>
        <p:nvSpPr>
          <p:cNvPr id="7" name="Cifra 2"/>
          <p:cNvSpPr txBox="1"/>
          <p:nvPr/>
        </p:nvSpPr>
        <p:spPr>
          <a:xfrm>
            <a:off x="457200" y="2377440"/>
            <a:ext cx="731520" cy="731520"/>
          </a:xfrm>
          <a:prstGeom prst="rect">
            <a:avLst/>
          </a:prstGeom>
          <a:noFill/>
          <a:ln/>
        </p:spPr>
        <p:txBody>
          <a:bodyPr wrap="square" lIns="0" tIns="0" rIns="0" bIns="0" rtlCol="0" anchor="ctr"/>
          <a:lstStyle/>
          <a:p>
            <a:pPr algn="ctr" indent="0" marL="0">
              <a:buNone/>
            </a:pPr>
            <a:r>
              <a:rPr lang="en-US" sz="2800" b="1" dirty="0">
                <a:solidFill>
                  <a:schemeClr val="tx2"/>
                </a:solidFill>
                <a:latin typeface="Cambria" pitchFamily="34" charset="0"/>
                <a:ea typeface="Cambria" pitchFamily="34" charset="-122"/>
                <a:cs typeface="Cambria" pitchFamily="34" charset="-120"/>
              </a:rPr>
              <a:t>2</a:t>
            </a:r>
            <a:endParaRPr lang="en-US" sz="2800" dirty="0"/>
          </a:p>
        </p:txBody>
      </p:sp>
      <p:sp>
        <p:nvSpPr>
          <p:cNvPr id="8" name="Conclusion 2"/>
          <p:cNvSpPr txBox="1"/>
          <p:nvPr/>
        </p:nvSpPr>
        <p:spPr>
          <a:xfrm>
            <a:off x="1463040" y="2331720"/>
            <a:ext cx="7223760" cy="822960"/>
          </a:xfrm>
          <a:prstGeom prst="rect">
            <a:avLst/>
          </a:prstGeom>
          <a:noFill/>
          <a:ln/>
        </p:spPr>
        <p:txBody>
          <a:bodyPr wrap="square" lIns="0" tIns="0" rIns="0" bIns="0" rtlCol="0" anchor="ctr"/>
          <a:lstStyle/>
          <a:p>
            <a:pPr indent="0" marL="0">
              <a:buNone/>
            </a:pPr>
            <a:r>
              <a:rPr lang="en-US" sz="2000" dirty="0">
                <a:solidFill>
                  <a:schemeClr val="bg1"/>
                </a:solidFill>
                <a:latin typeface="Calibri" pitchFamily="34" charset="0"/>
                <a:ea typeface="Calibri" pitchFamily="34" charset="-122"/>
                <a:cs typeface="Calibri" pitchFamily="34" charset="-120"/>
              </a:rPr>
              <a:t>En un grafo de 75 nodos, Dijkstra es la mejor opción práctica: ACO sería útil en grafos mucho mayores</a:t>
            </a:r>
            <a:endParaRPr lang="en-US" sz="2000" dirty="0"/>
          </a:p>
        </p:txBody>
      </p:sp>
      <p:sp>
        <p:nvSpPr>
          <p:cNvPr id="9" name="Numero 3"/>
          <p:cNvSpPr/>
          <p:nvPr/>
        </p:nvSpPr>
        <p:spPr>
          <a:xfrm>
            <a:off x="457200" y="3474720"/>
            <a:ext cx="731520" cy="731520"/>
          </a:xfrm>
          <a:prstGeom prst="ellipse">
            <a:avLst/>
          </a:prstGeom>
          <a:solidFill>
            <a:schemeClr val="accent2"/>
          </a:solidFill>
          <a:ln w="12700">
            <a:solidFill>
              <a:schemeClr val="accent2"/>
            </a:solidFill>
            <a:prstDash val="solid"/>
          </a:ln>
        </p:spPr>
      </p:sp>
      <p:sp>
        <p:nvSpPr>
          <p:cNvPr id="10" name="Cifra 3"/>
          <p:cNvSpPr txBox="1"/>
          <p:nvPr/>
        </p:nvSpPr>
        <p:spPr>
          <a:xfrm>
            <a:off x="457200" y="3474720"/>
            <a:ext cx="731520" cy="731520"/>
          </a:xfrm>
          <a:prstGeom prst="rect">
            <a:avLst/>
          </a:prstGeom>
          <a:noFill/>
          <a:ln/>
        </p:spPr>
        <p:txBody>
          <a:bodyPr wrap="square" lIns="0" tIns="0" rIns="0" bIns="0" rtlCol="0" anchor="ctr"/>
          <a:lstStyle/>
          <a:p>
            <a:pPr algn="ctr" indent="0" marL="0">
              <a:buNone/>
            </a:pPr>
            <a:r>
              <a:rPr lang="en-US" sz="2800" b="1" dirty="0">
                <a:solidFill>
                  <a:schemeClr val="tx2"/>
                </a:solidFill>
                <a:latin typeface="Cambria" pitchFamily="34" charset="0"/>
                <a:ea typeface="Cambria" pitchFamily="34" charset="-122"/>
                <a:cs typeface="Cambria" pitchFamily="34" charset="-120"/>
              </a:rPr>
              <a:t>3</a:t>
            </a:r>
            <a:endParaRPr lang="en-US" sz="2800" dirty="0"/>
          </a:p>
        </p:txBody>
      </p:sp>
      <p:sp>
        <p:nvSpPr>
          <p:cNvPr id="11" name="Conclusion 3"/>
          <p:cNvSpPr txBox="1"/>
          <p:nvPr/>
        </p:nvSpPr>
        <p:spPr>
          <a:xfrm>
            <a:off x="1463040" y="3429000"/>
            <a:ext cx="7223760" cy="822960"/>
          </a:xfrm>
          <a:prstGeom prst="rect">
            <a:avLst/>
          </a:prstGeom>
          <a:noFill/>
          <a:ln/>
        </p:spPr>
        <p:txBody>
          <a:bodyPr wrap="square" lIns="0" tIns="0" rIns="0" bIns="0" rtlCol="0" anchor="ctr"/>
          <a:lstStyle/>
          <a:p>
            <a:pPr indent="0" marL="0">
              <a:buNone/>
            </a:pPr>
            <a:r>
              <a:rPr lang="en-US" sz="2000" dirty="0">
                <a:solidFill>
                  <a:schemeClr val="bg1"/>
                </a:solidFill>
                <a:latin typeface="Calibri" pitchFamily="34" charset="0"/>
                <a:ea typeface="Calibri" pitchFamily="34" charset="-122"/>
                <a:cs typeface="Calibri" pitchFamily="34" charset="-120"/>
              </a:rPr>
              <a:t>Perder una vía alarga la evacuación; las cifras mejorarán con los puntos de encuentro reales</a:t>
            </a:r>
            <a:endParaRPr lang="en-US" sz="2000" dirty="0"/>
          </a:p>
        </p:txBody>
      </p:sp>
      <p:sp>
        <p:nvSpPr>
          <p:cNvPr id="12" name="Cierre"/>
          <p:cNvSpPr txBox="1"/>
          <p:nvPr/>
        </p:nvSpPr>
        <p:spPr>
          <a:xfrm>
            <a:off x="457200" y="4526280"/>
            <a:ext cx="8229600" cy="365760"/>
          </a:xfrm>
          <a:prstGeom prst="rect">
            <a:avLst/>
          </a:prstGeom>
          <a:noFill/>
          <a:ln/>
        </p:spPr>
        <p:txBody>
          <a:bodyPr wrap="square" lIns="0" tIns="0" rIns="0" bIns="0" rtlCol="0" anchor="ctr"/>
          <a:lstStyle/>
          <a:p>
            <a:pPr indent="0" marL="0">
              <a:buNone/>
            </a:pPr>
            <a:r>
              <a:rPr lang="en-US" sz="1800" i="1" dirty="0">
                <a:solidFill>
                  <a:schemeClr val="bg2"/>
                </a:solidFill>
                <a:latin typeface="Cambria" pitchFamily="34" charset="0"/>
                <a:ea typeface="Cambria" pitchFamily="34" charset="-122"/>
                <a:cs typeface="Cambria" pitchFamily="34" charset="-120"/>
              </a:rPr>
              <a:t>Gracias</a:t>
            </a:r>
            <a:endParaRPr lang="en-US" sz="1800" dirty="0"/>
          </a:p>
        </p:txBody>
      </p:sp>
    </p:spTree>
  </p:cSld>
  <p:clrMapOvr>
    <a:masterClrMapping/>
  </p:clrMapOvr>
</p:sld>
</file>

<file path=ppt/theme/theme1.xml><?xml version="1.0" encoding="utf-8"?>
<a:theme xmlns:a="http://schemas.openxmlformats.org/drawingml/2006/main" name="ESPE Evacuacion">
  <a:themeElements>
    <a:clrScheme name="ESPE Evacuacion">
      <a:dk1>
        <a:srgbClr val="1A1A1A"/>
      </a:dk1>
      <a:lt1>
        <a:srgbClr val="FFFFFF"/>
      </a:lt1>
      <a:dk2>
        <a:srgbClr val="0F4C2A"/>
      </a:dk2>
      <a:lt2>
        <a:srgbClr val="E8F3EC"/>
      </a:lt2>
      <a:accent1>
        <a:srgbClr val="1B7F3B"/>
      </a:accent1>
      <a:accent2>
        <a:srgbClr val="E08A00"/>
      </a:accent2>
      <a:accent3>
        <a:srgbClr val="1F5FBF"/>
      </a:accent3>
      <a:accent4>
        <a:srgbClr val="7B3FA0"/>
      </a:accent4>
      <a:accent5>
        <a:srgbClr val="B71C1C"/>
      </a:accent5>
      <a:accent6>
        <a:srgbClr val="595959"/>
      </a:accent6>
      <a:hlink>
        <a:srgbClr val="1F5FBF"/>
      </a:hlink>
      <a:folHlink>
        <a:srgbClr val="7B3FA0"/>
      </a:folHlink>
    </a:clrScheme>
    <a:fontScheme name="ESPE Evacuacion">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Guiado de evacuación de los bloques G y H con ACO</dc:title>
  <dc:subject>PptxGenJS Presentation</dc:subject>
  <dc:creator>Maycol Celi, Erika Guayanay, Alejandro Obando</dc:creator>
  <cp:lastModifiedBy>Maycol Celi, Erika Guayanay, Alejandro Obando</cp:lastModifiedBy>
  <cp:revision>1</cp:revision>
  <dcterms:created xsi:type="dcterms:W3CDTF">2026-10-26T23:55:41Z</dcterms:created>
  <dcterms:modified xsi:type="dcterms:W3CDTF">2026-10-26T23:55:41Z</dcterms:modified>
</cp:coreProperties>
</file>